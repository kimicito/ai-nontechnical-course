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 type="custom"/>
  <p:notesSz cx="12192000" cy="6858000"/>
  <p:embeddedFontLst>
    <p:embeddedFont>
      <p:font typeface="Inter" charset="-122" pitchFamily="34"/>
      <p:regular r:id="rId22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font" Target="fonts/font1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rsor.com/ru/learn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rsor.com/ru/learn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rsor.com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rsor.com" TargetMode="External"/><Relationship Id="rId3" Type="http://schemas.openxmlformats.org/officeDocument/2006/relationships/hyperlink" Target="https://cursor.com/ru/learn" TargetMode="Externa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219200"/>
            <a:ext cx="711200" cy="762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5240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ПРАКТИЧЕСКИЙ КУРС ДЛЯ СПЕЦИАЛИСТОВ БЕЗ ИТ-ОБРАЗОВАНИЯ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20066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2000"/>
              </a:lnSpc>
            </a:pPr>
            <a:r>
              <a:rPr lang="en-US" sz="4200" noProof="1" b="1">
                <a:solidFill>
                  <a:srgbClr val="1C1A17"/>
                </a:solidFill>
                <a:latin typeface="Inter"/>
                <a:ea typeface="Inter"/>
              </a:rPr>
              <a:t>Программирование без программиста</a:t>
            </a:r>
            <a:endParaRPr lang="en-US" sz="42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3302000"/>
            <a:ext cx="914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6E675C"/>
                </a:solidFill>
                <a:latin typeface="Inter"/>
                <a:ea typeface="Inter"/>
              </a:rPr>
              <a:t>Как закупщику или логисту с помощью Cursor и ИИ самостоятельно сделать сайт и базу поставщиков — без единой строки кода, написанной вручную.</a:t>
            </a:r>
            <a:endParaRPr lang="en-US" sz="1800" noProof="1"/>
          </a:p>
        </p:txBody>
      </p:sp>
      <p:sp>
        <p:nvSpPr>
          <p:cNvPr id="6" name="divider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50800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7" name="footer-left"/>
          <p:cNvSpPr txBox="1"/>
          <p:nvPr/>
        </p:nvSpPr>
        <p:spPr>
          <a:xfrm>
            <a:off x="812800" y="53086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Подготовлено по материалам официального курса </a:t>
            </a:r>
            <a:r>
              <a:rPr lang="en-US" sz="1100" noProof="1" u="sng">
                <a:solidFill>
                  <a:srgbClr val="0563C1"/>
                </a:solidFill>
                <a:latin typeface="Inter"/>
                <a:ea typeface="Inter"/>
                <a:hlinkClick r:id="rId2"/>
              </a:rPr>
              <a:t>cursor.com/ru/learn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Формат: самостоятельное изучение, 19 слайдов, примерно 40 минут</a:t>
            </a:r>
            <a:endParaRPr lang="en-US" sz="1100" noProof="1"/>
          </a:p>
        </p:txBody>
      </p:sp>
      <p:sp>
        <p:nvSpPr>
          <p:cNvPr id="8" name="footer-right"/>
          <p:cNvSpPr txBox="1"/>
          <p:nvPr/>
        </p:nvSpPr>
        <p:spPr>
          <a:xfrm>
            <a:off x="8890000" y="5308600"/>
            <a:ext cx="248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Часть 1. Знакомство</a:t>
            </a:r>
            <a:endParaRPr lang="en-US" sz="1100" noProof="1"/>
          </a:p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Часть 2–3. Два проекта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МАРШРУТ КУРСА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Что вы сможете после этих 19 слайдов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goal-num"/>
          <p:cNvSpPr txBox="1"/>
          <p:nvPr/>
        </p:nvSpPr>
        <p:spPr>
          <a:xfrm>
            <a:off x="812800" y="18034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2410C"/>
                </a:solidFill>
                <a:latin typeface="Inter"/>
                <a:ea typeface="Inter"/>
              </a:rPr>
              <a:t>01</a:t>
            </a:r>
            <a:endParaRPr lang="en-US" sz="4000" noProof="1"/>
          </a:p>
        </p:txBody>
      </p:sp>
      <p:sp>
        <p:nvSpPr>
          <p:cNvPr id="6" name="goal-text"/>
          <p:cNvSpPr txBox="1"/>
          <p:nvPr/>
        </p:nvSpPr>
        <p:spPr>
          <a:xfrm>
            <a:off x="1905000" y="1778000"/>
            <a:ext cx="947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Объяснить коллеге, что такое Cursor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и почему ИИ теперь пишет программы по описанию на обычном русском языке — и где у этого подхода границы.</a:t>
            </a:r>
            <a:endParaRPr lang="en-US" sz="1400" noProof="1"/>
          </a:p>
        </p:txBody>
      </p:sp>
      <p:sp>
        <p:nvSpPr>
          <p:cNvPr id="7" name="goal2-num"/>
          <p:cNvSpPr txBox="1"/>
          <p:nvPr/>
        </p:nvSpPr>
        <p:spPr>
          <a:xfrm>
            <a:off x="812800" y="27432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2410C"/>
                </a:solidFill>
                <a:latin typeface="Inter"/>
                <a:ea typeface="Inter"/>
              </a:rPr>
              <a:t>02</a:t>
            </a:r>
            <a:endParaRPr lang="en-US" sz="4000" noProof="1"/>
          </a:p>
        </p:txBody>
      </p:sp>
      <p:sp>
        <p:nvSpPr>
          <p:cNvPr id="8" name="goal2-text"/>
          <p:cNvSpPr txBox="1"/>
          <p:nvPr/>
        </p:nvSpPr>
        <p:spPr>
          <a:xfrm>
            <a:off x="1905000" y="2717800"/>
            <a:ext cx="947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Написать понятное задание для ИИ (промпт)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: описать, что должно получиться, так же, как вы ставите задачу новому сотруднику.</a:t>
            </a:r>
            <a:endParaRPr lang="en-US" sz="1400" noProof="1"/>
          </a:p>
        </p:txBody>
      </p:sp>
      <p:sp>
        <p:nvSpPr>
          <p:cNvPr id="9" name="goal3-num"/>
          <p:cNvSpPr txBox="1"/>
          <p:nvPr/>
        </p:nvSpPr>
        <p:spPr>
          <a:xfrm>
            <a:off x="812800" y="3683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2410C"/>
                </a:solidFill>
                <a:latin typeface="Inter"/>
                <a:ea typeface="Inter"/>
              </a:rPr>
              <a:t>03</a:t>
            </a:r>
            <a:endParaRPr lang="en-US" sz="4000" noProof="1"/>
          </a:p>
        </p:txBody>
      </p:sp>
      <p:sp>
        <p:nvSpPr>
          <p:cNvPr id="10" name="goal3-text"/>
          <p:cNvSpPr txBox="1"/>
          <p:nvPr/>
        </p:nvSpPr>
        <p:spPr>
          <a:xfrm>
            <a:off x="1905000" y="3657600"/>
            <a:ext cx="947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Собрать простой сайт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— например, страницу отдела закупок с контактами, регламентами и формой заявки — и показать его коллегам.</a:t>
            </a:r>
            <a:endParaRPr lang="en-US" sz="1400" noProof="1"/>
          </a:p>
        </p:txBody>
      </p:sp>
      <p:sp>
        <p:nvSpPr>
          <p:cNvPr id="11" name="goal4-num"/>
          <p:cNvSpPr txBox="1"/>
          <p:nvPr/>
        </p:nvSpPr>
        <p:spPr>
          <a:xfrm>
            <a:off x="812800" y="46228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2410C"/>
                </a:solidFill>
                <a:latin typeface="Inter"/>
                <a:ea typeface="Inter"/>
              </a:rPr>
              <a:t>04</a:t>
            </a:r>
            <a:endParaRPr lang="en-US" sz="4000" noProof="1"/>
          </a:p>
        </p:txBody>
      </p:sp>
      <p:sp>
        <p:nvSpPr>
          <p:cNvPr id="12" name="goal4-text"/>
          <p:cNvSpPr txBox="1"/>
          <p:nvPr/>
        </p:nvSpPr>
        <p:spPr>
          <a:xfrm>
            <a:off x="1905000" y="4597400"/>
            <a:ext cx="947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Собрать базу поставщиков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: таблица с поиском, фильтром по категориям, статусами и выгрузкой в Excel — вместо бесконечных файлов «поставщики_итог_v7.xlsx».</a:t>
            </a:r>
            <a:endParaRPr lang="en-US" sz="1400" noProof="1"/>
          </a:p>
        </p:txBody>
      </p:sp>
      <p:sp>
        <p:nvSpPr>
          <p:cNvPr id="13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5689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4" name="route-note"/>
          <p:cNvSpPr txBox="1"/>
          <p:nvPr/>
        </p:nvSpPr>
        <p:spPr>
          <a:xfrm>
            <a:off x="812800" y="58674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Структура: слайды 3–9 — как это работает и как разговаривать с ИИ · слайды 10–12 — проект «Сайт» · слайды 13–15 — проект «База поставщиков» · слайды 16–19 — ошибки, безопасность, шпаргалка.</a:t>
            </a:r>
            <a:endParaRPr lang="en-US" sz="1100" noProof="1"/>
          </a:p>
        </p:txBody>
      </p:sp>
      <p:sp>
        <p:nvSpPr>
          <p:cNvPr id="15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2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Чем Cursor отличается от обычного чата с ИИ</a:t>
            </a:r>
            <a:endParaRPr lang="en-US" sz="2700" noProof="1"/>
          </a:p>
        </p:txBody>
      </p:sp>
      <p:sp>
        <p:nvSpPr>
          <p:cNvPr id="4" name="intro"/>
          <p:cNvSpPr txBox="1"/>
          <p:nvPr/>
        </p:nvSpPr>
        <p:spPr>
          <a:xfrm>
            <a:off x="812800" y="14732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«Я и так могу спросить ИИ в чате — зачем отдельная программа?» Разница в том, </a:t>
            </a: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где живёт результат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и </a:t>
            </a: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кто выполняет ручную работу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.</a:t>
            </a:r>
            <a:endParaRPr lang="en-US" sz="1400" noProof="1"/>
          </a:p>
        </p:txBody>
      </p:sp>
      <p:sp>
        <p:nvSpPr>
          <p:cNvPr id="5" name="chat-label"/>
          <p:cNvSpPr txBox="1"/>
          <p:nvPr/>
        </p:nvSpPr>
        <p:spPr>
          <a:xfrm>
            <a:off x="812800" y="2209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6E675C"/>
                </a:solidFill>
                <a:latin typeface="Inter"/>
                <a:ea typeface="Inter"/>
              </a:rPr>
              <a:t>ОБЫЧНЫЙ ЧАТ С ИИ (в браузере)</a:t>
            </a:r>
            <a:endParaRPr lang="en-US" sz="1200" noProof="1"/>
          </a:p>
        </p:txBody>
      </p:sp>
      <p:sp>
        <p:nvSpPr>
          <p:cNvPr id="6" name="chat-list"/>
          <p:cNvSpPr txBox="1"/>
          <p:nvPr/>
        </p:nvSpPr>
        <p:spPr>
          <a:xfrm>
            <a:off x="812800" y="2565400"/>
            <a:ext cx="508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ИИ присылает код текстом в окне чата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Вы копируете его в файл руками: создать файл, вставить, сохранить, найти, куда положить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ИИ не видит ваш проект: каждый раз объясняете всё заново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Ошибку он чинит «вслепую», по вашему пересказу</a:t>
            </a:r>
            <a:endParaRPr lang="en-US" sz="1300" noProof="1"/>
          </a:p>
        </p:txBody>
      </p:sp>
      <p:sp>
        <p:nvSpPr>
          <p:cNvPr id="7" name="cursor-label"/>
          <p:cNvSpPr txBox="1"/>
          <p:nvPr/>
        </p:nvSpPr>
        <p:spPr>
          <a:xfrm>
            <a:off x="6604000" y="22098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CURSOR</a:t>
            </a:r>
            <a:endParaRPr lang="en-US" sz="1200" noProof="1"/>
          </a:p>
        </p:txBody>
      </p:sp>
      <p:sp>
        <p:nvSpPr>
          <p:cNvPr id="8" name="cursor-list"/>
          <p:cNvSpPr txBox="1"/>
          <p:nvPr/>
        </p:nvSpPr>
        <p:spPr>
          <a:xfrm>
            <a:off x="6604000" y="2565400"/>
            <a:ext cx="4775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ИИ сам создаёт и сохраняет файлы в вашей папке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Ничего копировать не нужно: нажали Enter — сайт уже лежит на диске и открывается в браузере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ИИ видит весь проект целиком и помнит, что сделал в прошлый раз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Ошибку находит сам, потому что видит код и сообщения об ошибках</a:t>
            </a:r>
            <a:endParaRPr lang="en-US" sz="1300" noProof="1"/>
          </a:p>
        </p:txBody>
      </p:sp>
      <p:sp>
        <p:nvSpPr>
          <p:cNvPr id="9" name="arrow"/>
          <p:cNvSpPr/>
          <p:nvPr>
            <p:extLst>
              <p:ext uri="{F5677B7D-0D2A-4D9B-9A5C-6D8D7D0E5A5D}">
                <pptd:line encoding="base64url">eyJ2aWV3Qm94IjpbNDQsMjBdLCJwb2ludHMiOiIwLDEwIDQ0LDEwIiwiY3VydmUiOiJzaGFycCJ9</pptd:line>
              </p:ext>
            </p:extLst>
          </p:nvPr>
        </p:nvSpPr>
        <p:spPr>
          <a:xfrm>
            <a:off x="5969000" y="33020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44" h="20">
                <a:moveTo>
                  <a:pt x="0" y="10"/>
                </a:moveTo>
                <a:lnTo>
                  <a:pt x="44" y="10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0" name="analogy-panel"/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1" name="analogy-bar"/>
          <p:cNvSpPr/>
          <p:nvPr/>
        </p:nvSpPr>
        <p:spPr>
          <a:xfrm>
            <a:off x="812800" y="5029200"/>
            <a:ext cx="50800" cy="1066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2" name="analogy-title"/>
          <p:cNvSpPr txBox="1"/>
          <p:nvPr/>
        </p:nvSpPr>
        <p:spPr>
          <a:xfrm>
            <a:off x="1117600" y="5181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КАРТИНКА ДЛЯ ЗАПОМИНАНИЯ</a:t>
            </a:r>
            <a:endParaRPr lang="en-US" sz="1200" noProof="1"/>
          </a:p>
        </p:txBody>
      </p:sp>
      <p:sp>
        <p:nvSpPr>
          <p:cNvPr id="13" name="analogy-text"/>
          <p:cNvSpPr txBox="1"/>
          <p:nvPr/>
        </p:nvSpPr>
        <p:spPr>
          <a:xfrm>
            <a:off x="1117600" y="54864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Чат с ИИ — это советчик по телефону: подскажет, а руками работаете вы. Cursor — это мастер в вашей мастерской: у него есть доступ к инструментам и материалам, и он делает работу сам, а вы принимаете результат.</a:t>
            </a:r>
            <a:endParaRPr lang="en-US" sz="1300" noProof="1"/>
          </a:p>
        </p:txBody>
      </p:sp>
      <p:sp>
        <p:nvSpPr>
          <p:cNvPr id="1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3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Раньше программу писал программист. Теперь её пишет ИИ — по вашим словам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9812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before-label"/>
          <p:cNvSpPr txBox="1"/>
          <p:nvPr/>
        </p:nvSpPr>
        <p:spPr>
          <a:xfrm>
            <a:off x="812800" y="223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6E675C"/>
                </a:solidFill>
                <a:latin typeface="Inter"/>
                <a:ea typeface="Inter"/>
              </a:rPr>
              <a:t>КАК БЫЛО</a:t>
            </a:r>
            <a:endParaRPr lang="en-US" sz="1200" noProof="1"/>
          </a:p>
        </p:txBody>
      </p:sp>
      <p:sp>
        <p:nvSpPr>
          <p:cNvPr id="6" name="before-flow"/>
          <p:cNvSpPr txBox="1"/>
          <p:nvPr/>
        </p:nvSpPr>
        <p:spPr>
          <a:xfrm>
            <a:off x="812800" y="2590800"/>
            <a:ext cx="4826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Идея → заявка в ИТ → очередь → техзадание → разработчик → недели или месяцы → правки → ещё недели.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Маленькие задачи («нам бы табличку поставщиков с поиском») до разработчика просто не доходили — у ИТ всегда есть дела поважнее.</a:t>
            </a:r>
            <a:endParaRPr lang="en-US" sz="1400" noProof="1"/>
          </a:p>
        </p:txBody>
      </p:sp>
      <p:sp>
        <p:nvSpPr>
          <p:cNvPr id="7" name="arrow"/>
          <p:cNvSpPr/>
          <p:nvPr>
            <p:extLst>
              <p:ext uri="{F5677B7D-0D2A-4D9B-9A5C-6D8D7D0E5A5D}">
                <pptd:line encoding="base64url">eyJ2aWV3Qm94IjpbNTYsMjBdLCJwb2ludHMiOiIwLDEwIDU2LDEwIiwiY3VydmUiOiJzaGFycCJ9</pptd:line>
              </p:ext>
            </p:extLst>
          </p:nvPr>
        </p:nvSpPr>
        <p:spPr>
          <a:xfrm>
            <a:off x="5740400" y="3048000"/>
            <a:ext cx="711200" cy="254000"/>
          </a:xfrm>
          <a:custGeom>
            <a:avLst/>
            <a:gdLst/>
            <a:ahLst/>
            <a:cxnLst/>
            <a:rect l="l" t="t" r="r" b="b"/>
            <a:pathLst>
              <a:path w="56" h="20">
                <a:moveTo>
                  <a:pt x="0" y="10"/>
                </a:moveTo>
                <a:lnTo>
                  <a:pt x="56" y="10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8" name="after-label"/>
          <p:cNvSpPr txBox="1"/>
          <p:nvPr/>
        </p:nvSpPr>
        <p:spPr>
          <a:xfrm>
            <a:off x="6654800" y="2235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КАК СТАЛО С ИИ</a:t>
            </a:r>
            <a:endParaRPr lang="en-US" sz="1200" noProof="1"/>
          </a:p>
        </p:txBody>
      </p:sp>
      <p:sp>
        <p:nvSpPr>
          <p:cNvPr id="9" name="after-flow"/>
          <p:cNvSpPr txBox="1"/>
          <p:nvPr/>
        </p:nvSpPr>
        <p:spPr>
          <a:xfrm>
            <a:off x="6654800" y="2590800"/>
            <a:ext cx="4724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Вы описываете задачу обычными словами → ИИ пишет код → вы смотрите результат → просите поправить → готово.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Типичный маленький проект: от получаса до одного вечера.</a:t>
            </a:r>
            <a:endParaRPr lang="en-US" sz="1400" noProof="1"/>
          </a:p>
        </p:txBody>
      </p:sp>
      <p:sp>
        <p:nvSpPr>
          <p:cNvPr id="10" name="analogy-panel"/>
          <p:cNvSpPr/>
          <p:nvPr/>
        </p:nvSpPr>
        <p:spPr>
          <a:xfrm>
            <a:off x="812800" y="4521200"/>
            <a:ext cx="10566400" cy="1270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1" name="analogy-bar"/>
          <p:cNvSpPr/>
          <p:nvPr/>
        </p:nvSpPr>
        <p:spPr>
          <a:xfrm>
            <a:off x="812800" y="4521200"/>
            <a:ext cx="50800" cy="12700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2" name="analogy-title"/>
          <p:cNvSpPr txBox="1"/>
          <p:nvPr/>
        </p:nvSpPr>
        <p:spPr>
          <a:xfrm>
            <a:off x="1117600" y="46990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АНАЛОГИЯ, КОТОРУЮ УДОБНО ЗАПОМНИТЬ</a:t>
            </a:r>
            <a:endParaRPr lang="en-US" sz="1200" noProof="1"/>
          </a:p>
        </p:txBody>
      </p:sp>
      <p:sp>
        <p:nvSpPr>
          <p:cNvPr id="13" name="analogy-text"/>
          <p:cNvSpPr txBox="1"/>
          <p:nvPr/>
        </p:nvSpPr>
        <p:spPr>
          <a:xfrm>
            <a:off x="1117600" y="50038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ИИ в Cursor — это </a:t>
            </a: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переводчик с русского на язык компьютера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. Код никуда не делся: он всё так же существует, просто пишет его не человек, а модель. Ваша работа — грамотно объяснить, что нужно, и проверить результат. Именно так устроен подход, который описывает официальный курс </a:t>
            </a:r>
            <a:r>
              <a:rPr lang="en-US" sz="1400" noProof="1" u="sng">
                <a:solidFill>
                  <a:srgbClr val="0563C1"/>
                </a:solidFill>
                <a:latin typeface="Inter"/>
                <a:ea typeface="Inter"/>
                <a:hlinkClick r:id="rId2"/>
              </a:rPr>
              <a:t>Cursor Learn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.</a:t>
            </a:r>
            <a:endParaRPr lang="en-US" sz="1400" noProof="1"/>
          </a:p>
        </p:txBody>
      </p:sp>
      <p:sp>
        <p:nvSpPr>
          <p:cNvPr id="1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4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Что такое Cursor — простыми словами</a:t>
            </a:r>
            <a:endParaRPr lang="en-US" sz="2700" noProof="1"/>
          </a:p>
        </p:txBody>
      </p:sp>
      <p:sp>
        <p:nvSpPr>
          <p:cNvPr id="4" name="def-panel"/>
          <p:cNvSpPr/>
          <p:nvPr/>
        </p:nvSpPr>
        <p:spPr>
          <a:xfrm>
            <a:off x="812800" y="1574800"/>
            <a:ext cx="10566400" cy="9652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5" name="def-bar"/>
          <p:cNvSpPr/>
          <p:nvPr/>
        </p:nvSpPr>
        <p:spPr>
          <a:xfrm>
            <a:off x="812800" y="1574800"/>
            <a:ext cx="50800" cy="9652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6" name="def-text"/>
          <p:cNvSpPr txBox="1"/>
          <p:nvPr/>
        </p:nvSpPr>
        <p:spPr>
          <a:xfrm>
            <a:off x="1117600" y="1752600"/>
            <a:ext cx="10007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Cursor — это редактор для работы с файлами программ, внутри которого живёт ИИ-ассистент.</a:t>
            </a:r>
            <a:r>
              <a:rPr lang="en-US" sz="1500" noProof="1">
                <a:solidFill>
                  <a:srgbClr val="1C1A17"/>
                </a:solidFill>
                <a:latin typeface="Inter"/>
                <a:ea typeface="Inter"/>
              </a:rPr>
              <a:t> Как Word, только вместо документов — файлы сайта или базы данных, а вместо правок текста — создание и доработка целых программ по вашему описанию.</a:t>
            </a:r>
            <a:endParaRPr lang="en-US" sz="1500" noProof="1"/>
          </a:p>
        </p:txBody>
      </p:sp>
      <p:sp>
        <p:nvSpPr>
          <p:cNvPr id="7" name="can-label"/>
          <p:cNvSpPr txBox="1"/>
          <p:nvPr/>
        </p:nvSpPr>
        <p:spPr>
          <a:xfrm>
            <a:off x="812800" y="2870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ЧТО CURSOR УМЕЕТ</a:t>
            </a:r>
            <a:endParaRPr lang="en-US" sz="1200" noProof="1"/>
          </a:p>
        </p:txBody>
      </p:sp>
      <p:sp>
        <p:nvSpPr>
          <p:cNvPr id="8" name="can-list"/>
          <p:cNvSpPr txBox="1"/>
          <p:nvPr/>
        </p:nvSpPr>
        <p:spPr>
          <a:xfrm>
            <a:off x="812800" y="32258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написать программу с нуля по описанию на русском языке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дорабатывать её по вашим просьбам: «сделай кнопку заметнее», «добавь столбец ИНН»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находить и исправлять ошибки, если что-то не работает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объяснять простыми словами, что он сделал</a:t>
            </a:r>
            <a:endParaRPr lang="en-US" sz="1400" noProof="1"/>
          </a:p>
        </p:txBody>
      </p:sp>
      <p:sp>
        <p:nvSpPr>
          <p:cNvPr id="9" name="cant-label"/>
          <p:cNvSpPr txBox="1"/>
          <p:nvPr/>
        </p:nvSpPr>
        <p:spPr>
          <a:xfrm>
            <a:off x="6654800" y="2870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ЧЕГО CURSOR НЕ УМЕЕТ</a:t>
            </a:r>
            <a:endParaRPr lang="en-US" sz="1200" noProof="1"/>
          </a:p>
        </p:txBody>
      </p:sp>
      <p:sp>
        <p:nvSpPr>
          <p:cNvPr id="10" name="cant-list"/>
          <p:cNvSpPr txBox="1"/>
          <p:nvPr/>
        </p:nvSpPr>
        <p:spPr>
          <a:xfrm>
            <a:off x="6654800" y="3225800"/>
            <a:ext cx="47244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читать мысли: всё, что вы не написали, он додумает сам — и может додумать не так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гарантировать, что результат правильный: проверять глазами придётся вам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— отвечать за сохранность данных: копии делаете вы</a:t>
            </a:r>
            <a:endParaRPr lang="en-US" sz="1400" noProof="1"/>
          </a:p>
        </p:txBody>
      </p:sp>
      <p:sp>
        <p:nvSpPr>
          <p:cNvPr id="11" name="vline"/>
          <p:cNvSpPr/>
          <p:nvPr>
            <p:extLst>
              <p:ext uri="{F5677B7D-0D2A-4D9B-9A5C-6D8D7D0E5A5D}">
                <pptd:line encoding="base64url">eyJ2aWV3Qm94IjpbMSwyMjBdLCJwb2ludHMiOiIwLDAgMCwyMjAiLCJjdXJ2ZSI6InNoYXJwIn0</pptd:line>
              </p:ext>
            </p:extLst>
          </p:nvPr>
        </p:nvSpPr>
        <p:spPr>
          <a:xfrm>
            <a:off x="6223000" y="2921000"/>
            <a:ext cx="12700" cy="2794000"/>
          </a:xfrm>
          <a:custGeom>
            <a:avLst/>
            <a:gdLst/>
            <a:ahLst/>
            <a:cxnLst/>
            <a:rect l="l" t="t" r="r" b="b"/>
            <a:pathLst>
              <a:path w="1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2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070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3" name="footnote"/>
          <p:cNvSpPr txBox="1"/>
          <p:nvPr/>
        </p:nvSpPr>
        <p:spPr>
          <a:xfrm>
            <a:off x="812800" y="62230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Cursor работает на Windows, macOS и Linux. Есть бесплатный тариф с ограничениями — для первых проектов его хватает.</a:t>
            </a:r>
            <a:endParaRPr lang="en-US" sz="1100" noProof="1"/>
          </a:p>
        </p:txBody>
      </p:sp>
      <p:sp>
        <p:nvSpPr>
          <p:cNvPr id="1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5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Установка и первый запуск: четыре шага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s1-num"/>
          <p:cNvSpPr txBox="1"/>
          <p:nvPr/>
        </p:nvSpPr>
        <p:spPr>
          <a:xfrm>
            <a:off x="812800" y="1828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2410C"/>
                </a:solidFill>
                <a:latin typeface="Inter"/>
                <a:ea typeface="Inter"/>
              </a:rPr>
              <a:t>1</a:t>
            </a:r>
            <a:endParaRPr lang="en-US" sz="2800" noProof="1"/>
          </a:p>
        </p:txBody>
      </p:sp>
      <p:sp>
        <p:nvSpPr>
          <p:cNvPr id="6" name="s1-title"/>
          <p:cNvSpPr txBox="1"/>
          <p:nvPr/>
        </p:nvSpPr>
        <p:spPr>
          <a:xfrm>
            <a:off x="1397000" y="182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Скачайте программу</a:t>
            </a:r>
            <a:endParaRPr lang="en-US" sz="1500" noProof="1"/>
          </a:p>
        </p:txBody>
      </p:sp>
      <p:sp>
        <p:nvSpPr>
          <p:cNvPr id="7" name="s1-body"/>
          <p:cNvSpPr txBox="1"/>
          <p:nvPr/>
        </p:nvSpPr>
        <p:spPr>
          <a:xfrm>
            <a:off x="1397000" y="2184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Зайдите на </a:t>
            </a:r>
            <a:r>
              <a:rPr lang="en-US" sz="1400" noProof="1" u="sng">
                <a:solidFill>
                  <a:srgbClr val="0563C1"/>
                </a:solidFill>
                <a:latin typeface="Inter"/>
                <a:ea typeface="Inter"/>
                <a:hlinkClick r:id="rId2"/>
              </a:rPr>
              <a:t>cursor.com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и нажмите Download. Сайт сам предложит версию под вашу систему.</a:t>
            </a:r>
            <a:endParaRPr lang="en-US" sz="1400" noProof="1"/>
          </a:p>
        </p:txBody>
      </p:sp>
      <p:sp>
        <p:nvSpPr>
          <p:cNvPr id="8" name="s2-num"/>
          <p:cNvSpPr txBox="1"/>
          <p:nvPr/>
        </p:nvSpPr>
        <p:spPr>
          <a:xfrm>
            <a:off x="6477000" y="1828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2410C"/>
                </a:solidFill>
                <a:latin typeface="Inter"/>
                <a:ea typeface="Inter"/>
              </a:rPr>
              <a:t>2</a:t>
            </a:r>
            <a:endParaRPr lang="en-US" sz="2800" noProof="1"/>
          </a:p>
        </p:txBody>
      </p:sp>
      <p:sp>
        <p:nvSpPr>
          <p:cNvPr id="9" name="s2-title"/>
          <p:cNvSpPr txBox="1"/>
          <p:nvPr/>
        </p:nvSpPr>
        <p:spPr>
          <a:xfrm>
            <a:off x="7061200" y="182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Установите как обычно</a:t>
            </a:r>
            <a:endParaRPr lang="en-US" sz="1500" noProof="1"/>
          </a:p>
        </p:txBody>
      </p:sp>
      <p:sp>
        <p:nvSpPr>
          <p:cNvPr id="10" name="s2-body"/>
          <p:cNvSpPr txBox="1"/>
          <p:nvPr/>
        </p:nvSpPr>
        <p:spPr>
          <a:xfrm>
            <a:off x="7061200" y="2184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Запустите скачанный файл и нажимайте «Далее». Никаких специальных настроек не нужно.</a:t>
            </a:r>
            <a:endParaRPr lang="en-US" sz="1400" noProof="1"/>
          </a:p>
        </p:txBody>
      </p:sp>
      <p:sp>
        <p:nvSpPr>
          <p:cNvPr id="11" name="s3-num"/>
          <p:cNvSpPr txBox="1"/>
          <p:nvPr/>
        </p:nvSpPr>
        <p:spPr>
          <a:xfrm>
            <a:off x="812800" y="3200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2410C"/>
                </a:solidFill>
                <a:latin typeface="Inter"/>
                <a:ea typeface="Inter"/>
              </a:rPr>
              <a:t>3</a:t>
            </a:r>
            <a:endParaRPr lang="en-US" sz="2800" noProof="1"/>
          </a:p>
        </p:txBody>
      </p:sp>
      <p:sp>
        <p:nvSpPr>
          <p:cNvPr id="12" name="s3-title"/>
          <p:cNvSpPr txBox="1"/>
          <p:nvPr/>
        </p:nvSpPr>
        <p:spPr>
          <a:xfrm>
            <a:off x="1397000" y="3200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Зарегистрируйтесь</a:t>
            </a:r>
            <a:endParaRPr lang="en-US" sz="1500" noProof="1"/>
          </a:p>
        </p:txBody>
      </p:sp>
      <p:sp>
        <p:nvSpPr>
          <p:cNvPr id="13" name="s3-body"/>
          <p:cNvSpPr txBox="1"/>
          <p:nvPr/>
        </p:nvSpPr>
        <p:spPr>
          <a:xfrm>
            <a:off x="1397000" y="35560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При первом запуске Cursor попросит войти в аккаунт. Подойдёт рабочая почта или Google-аккаунт. Есть бесплатный пробный период.</a:t>
            </a:r>
            <a:endParaRPr lang="en-US" sz="1400" noProof="1"/>
          </a:p>
        </p:txBody>
      </p:sp>
      <p:sp>
        <p:nvSpPr>
          <p:cNvPr id="14" name="s4-num"/>
          <p:cNvSpPr txBox="1"/>
          <p:nvPr/>
        </p:nvSpPr>
        <p:spPr>
          <a:xfrm>
            <a:off x="6477000" y="3200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2410C"/>
                </a:solidFill>
                <a:latin typeface="Inter"/>
                <a:ea typeface="Inter"/>
              </a:rPr>
              <a:t>4</a:t>
            </a:r>
            <a:endParaRPr lang="en-US" sz="2800" noProof="1"/>
          </a:p>
        </p:txBody>
      </p:sp>
      <p:sp>
        <p:nvSpPr>
          <p:cNvPr id="15" name="s4-title"/>
          <p:cNvSpPr txBox="1"/>
          <p:nvPr/>
        </p:nvSpPr>
        <p:spPr>
          <a:xfrm>
            <a:off x="7061200" y="3200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Создайте папку проекта</a:t>
            </a:r>
            <a:endParaRPr lang="en-US" sz="1500" noProof="1"/>
          </a:p>
        </p:txBody>
      </p:sp>
      <p:sp>
        <p:nvSpPr>
          <p:cNvPr id="16" name="s4-body"/>
          <p:cNvSpPr txBox="1"/>
          <p:nvPr/>
        </p:nvSpPr>
        <p:spPr>
          <a:xfrm>
            <a:off x="7061200" y="35560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Создайте на компьютере пустую папку, например «Мой сайт», и откройте её в Cursor: File → Open Folder.</a:t>
            </a:r>
            <a:endParaRPr lang="en-US" sz="1400" noProof="1"/>
          </a:p>
        </p:txBody>
      </p:sp>
      <p:sp>
        <p:nvSpPr>
          <p:cNvPr id="17" name="check-panel"/>
          <p:cNvSpPr/>
          <p:nvPr/>
        </p:nvSpPr>
        <p:spPr>
          <a:xfrm>
            <a:off x="812800" y="4775200"/>
            <a:ext cx="10566400" cy="9652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8" name="check-bar"/>
          <p:cNvSpPr/>
          <p:nvPr/>
        </p:nvSpPr>
        <p:spPr>
          <a:xfrm>
            <a:off x="812800" y="4775200"/>
            <a:ext cx="50800" cy="9652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9" name="check-title"/>
          <p:cNvSpPr txBox="1"/>
          <p:nvPr/>
        </p:nvSpPr>
        <p:spPr>
          <a:xfrm>
            <a:off x="1117600" y="4927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КАК ПОНЯТЬ, ЧТО ВСЁ ГОТОВО К РАБОТЕ</a:t>
            </a:r>
            <a:endParaRPr lang="en-US" sz="1200" noProof="1"/>
          </a:p>
        </p:txBody>
      </p:sp>
      <p:sp>
        <p:nvSpPr>
          <p:cNvPr id="20" name="check-text"/>
          <p:cNvSpPr txBox="1"/>
          <p:nvPr/>
        </p:nvSpPr>
        <p:spPr>
          <a:xfrm>
            <a:off x="1117600" y="5207000"/>
            <a:ext cx="1003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Cursor открыт, слева видна пустая панель с названием вашей папки. Всё — можно переходить к следующему слайду и начинать разговор с ИИ.</a:t>
            </a:r>
            <a:endParaRPr lang="en-US" sz="1400" noProof="1"/>
          </a:p>
        </p:txBody>
      </p:sp>
      <p:sp>
        <p:nvSpPr>
          <p:cNvPr id="21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6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Интерфейс: вам нужны всего три зоны</a:t>
            </a:r>
            <a:endParaRPr lang="en-US" sz="2700" noProof="1"/>
          </a:p>
        </p:txBody>
      </p:sp>
      <p:sp>
        <p:nvSpPr>
          <p:cNvPr id="4" name="mock-frame"/>
          <p:cNvSpPr/>
          <p:nvPr/>
        </p:nvSpPr>
        <p:spPr>
          <a:xfrm>
            <a:off x="812800" y="1574800"/>
            <a:ext cx="7112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</p:sp>
      <p:sp>
        <p:nvSpPr>
          <p:cNvPr id="5" name="mock-left"/>
          <p:cNvSpPr/>
          <p:nvPr/>
        </p:nvSpPr>
        <p:spPr>
          <a:xfrm>
            <a:off x="812800" y="1574800"/>
            <a:ext cx="1651000" cy="3810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6" name="mock-left-label"/>
          <p:cNvSpPr txBox="1"/>
          <p:nvPr/>
        </p:nvSpPr>
        <p:spPr>
          <a:xfrm>
            <a:off x="939800" y="17272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6E675C"/>
                </a:solidFill>
                <a:latin typeface="Inter"/>
                <a:ea typeface="Inter"/>
              </a:rPr>
              <a:t>ЗОНА 1</a:t>
            </a:r>
            <a:endParaRPr lang="en-US" sz="1000" noProof="1"/>
          </a:p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6E675C"/>
                </a:solidFill>
                <a:latin typeface="Inter"/>
                <a:ea typeface="Inter"/>
              </a:rPr>
              <a:t>Файлы проекта</a:t>
            </a:r>
            <a:endParaRPr lang="en-US" sz="1000" noProof="1"/>
          </a:p>
        </p:txBody>
      </p:sp>
      <p:sp>
        <p:nvSpPr>
          <p:cNvPr id="7" name="mock-left-items"/>
          <p:cNvSpPr txBox="1"/>
          <p:nvPr/>
        </p:nvSpPr>
        <p:spPr>
          <a:xfrm>
            <a:off x="939800" y="2336800"/>
            <a:ext cx="1397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000" noProof="1">
                <a:solidFill>
                  <a:srgbClr val="1C1A17"/>
                </a:solidFill>
                <a:latin typeface="Inter"/>
                <a:ea typeface="Inter"/>
              </a:rPr>
              <a:t>index.html</a:t>
            </a:r>
            <a:endParaRPr lang="en-US" sz="1000" noProof="1"/>
          </a:p>
          <a:p>
            <a:pPr>
              <a:lnSpc>
                <a:spcPct val="170000"/>
              </a:lnSpc>
            </a:pPr>
            <a:r>
              <a:rPr lang="en-US" sz="1000" noProof="1">
                <a:solidFill>
                  <a:srgbClr val="1C1A17"/>
                </a:solidFill>
                <a:latin typeface="Inter"/>
                <a:ea typeface="Inter"/>
              </a:rPr>
              <a:t>style.css</a:t>
            </a:r>
            <a:endParaRPr lang="en-US" sz="1000" noProof="1"/>
          </a:p>
          <a:p>
            <a:pPr>
              <a:lnSpc>
                <a:spcPct val="170000"/>
              </a:lnSpc>
            </a:pPr>
            <a:r>
              <a:rPr lang="en-US" sz="1000" noProof="1">
                <a:solidFill>
                  <a:srgbClr val="1C1A17"/>
                </a:solidFill>
                <a:latin typeface="Inter"/>
                <a:ea typeface="Inter"/>
              </a:rPr>
              <a:t>script.js</a:t>
            </a:r>
            <a:endParaRPr lang="en-US" sz="1000" noProof="1"/>
          </a:p>
        </p:txBody>
      </p:sp>
      <p:sp>
        <p:nvSpPr>
          <p:cNvPr id="8" name="mock-right"/>
          <p:cNvSpPr/>
          <p:nvPr/>
        </p:nvSpPr>
        <p:spPr>
          <a:xfrm>
            <a:off x="5638800" y="1574800"/>
            <a:ext cx="2286000" cy="38100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9" name="mock-right-label"/>
          <p:cNvSpPr txBox="1"/>
          <p:nvPr/>
        </p:nvSpPr>
        <p:spPr>
          <a:xfrm>
            <a:off x="5765800" y="1727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C2410C"/>
                </a:solidFill>
                <a:latin typeface="Inter"/>
                <a:ea typeface="Inter"/>
              </a:rPr>
              <a:t>ЗОНА 3 · ГЛАВНАЯ</a:t>
            </a:r>
            <a:endParaRPr lang="en-US" sz="1000" noProof="1"/>
          </a:p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C2410C"/>
                </a:solidFill>
                <a:latin typeface="Inter"/>
                <a:ea typeface="Inter"/>
              </a:rPr>
              <a:t>Чат с ИИ (Ctrl+L)</a:t>
            </a:r>
            <a:endParaRPr lang="en-US" sz="1000" noProof="1"/>
          </a:p>
        </p:txBody>
      </p:sp>
      <p:sp>
        <p:nvSpPr>
          <p:cNvPr id="10" name="mock-right-bubble"/>
          <p:cNvSpPr/>
          <p:nvPr/>
        </p:nvSpPr>
        <p:spPr>
          <a:xfrm>
            <a:off x="5765800" y="2336800"/>
            <a:ext cx="20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</p:sp>
      <p:sp>
        <p:nvSpPr>
          <p:cNvPr id="11" name="mock-right-text"/>
          <p:cNvSpPr txBox="1"/>
          <p:nvPr/>
        </p:nvSpPr>
        <p:spPr>
          <a:xfrm>
            <a:off x="5842000" y="2413000"/>
            <a:ext cx="1879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675C"/>
                </a:solidFill>
                <a:latin typeface="Inter"/>
                <a:ea typeface="Inter"/>
              </a:rPr>
              <a:t>«Сделай сайт отдела закупок: шапка, разделы…»</a:t>
            </a:r>
            <a:endParaRPr lang="en-US" sz="900" noProof="1"/>
          </a:p>
        </p:txBody>
      </p:sp>
      <p:sp>
        <p:nvSpPr>
          <p:cNvPr id="12" name="mock-center-label"/>
          <p:cNvSpPr txBox="1"/>
          <p:nvPr/>
        </p:nvSpPr>
        <p:spPr>
          <a:xfrm>
            <a:off x="2616200" y="1727200"/>
            <a:ext cx="2870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6E675C"/>
                </a:solidFill>
                <a:latin typeface="Inter"/>
                <a:ea typeface="Inter"/>
              </a:rPr>
              <a:t>ЗОНА 2</a:t>
            </a:r>
            <a:endParaRPr lang="en-US" sz="1000" noProof="1"/>
          </a:p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6E675C"/>
                </a:solidFill>
                <a:latin typeface="Inter"/>
                <a:ea typeface="Inter"/>
              </a:rPr>
              <a:t>Код — его пишет ИИ, вы можете</a:t>
            </a:r>
            <a:endParaRPr lang="en-US" sz="1000" noProof="1"/>
          </a:p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6E675C"/>
                </a:solidFill>
                <a:latin typeface="Inter"/>
                <a:ea typeface="Inter"/>
              </a:rPr>
              <a:t>сюда вообще не заглядывать</a:t>
            </a:r>
            <a:endParaRPr lang="en-US" sz="1000" noProof="1"/>
          </a:p>
        </p:txBody>
      </p:sp>
      <p:sp>
        <p:nvSpPr>
          <p:cNvPr id="13" name="mock-center-lines"/>
          <p:cNvSpPr/>
          <p:nvPr/>
        </p:nvSpPr>
        <p:spPr>
          <a:xfrm>
            <a:off x="2616200" y="2413000"/>
            <a:ext cx="2540000" cy="101600"/>
          </a:xfrm>
          <a:prstGeom prst="rect">
            <a:avLst/>
          </a:prstGeom>
          <a:solidFill>
            <a:srgbClr val="DDD5C8"/>
          </a:solidFill>
          <a:ln>
            <a:noFill/>
          </a:ln>
        </p:spPr>
      </p:sp>
      <p:sp>
        <p:nvSpPr>
          <p:cNvPr id="14" name="mock-center-lines2"/>
          <p:cNvSpPr/>
          <p:nvPr/>
        </p:nvSpPr>
        <p:spPr>
          <a:xfrm>
            <a:off x="2616200" y="2641600"/>
            <a:ext cx="2032000" cy="101600"/>
          </a:xfrm>
          <a:prstGeom prst="rect">
            <a:avLst/>
          </a:prstGeom>
          <a:solidFill>
            <a:srgbClr val="DDD5C8"/>
          </a:solidFill>
          <a:ln>
            <a:noFill/>
          </a:ln>
        </p:spPr>
      </p:sp>
      <p:sp>
        <p:nvSpPr>
          <p:cNvPr id="15" name="mock-center-lines3"/>
          <p:cNvSpPr/>
          <p:nvPr/>
        </p:nvSpPr>
        <p:spPr>
          <a:xfrm>
            <a:off x="2616200" y="2870200"/>
            <a:ext cx="2349500" cy="101600"/>
          </a:xfrm>
          <a:prstGeom prst="rect">
            <a:avLst/>
          </a:prstGeom>
          <a:solidFill>
            <a:srgbClr val="DDD5C8"/>
          </a:solidFill>
          <a:ln>
            <a:noFill/>
          </a:ln>
        </p:spPr>
      </p:sp>
      <p:sp>
        <p:nvSpPr>
          <p:cNvPr id="16" name="mock-center-lines4"/>
          <p:cNvSpPr/>
          <p:nvPr/>
        </p:nvSpPr>
        <p:spPr>
          <a:xfrm>
            <a:off x="2616200" y="3098800"/>
            <a:ext cx="1778000" cy="101600"/>
          </a:xfrm>
          <a:prstGeom prst="rect">
            <a:avLst/>
          </a:prstGeom>
          <a:solidFill>
            <a:srgbClr val="DDD5C8"/>
          </a:solidFill>
          <a:ln>
            <a:noFill/>
          </a:ln>
        </p:spPr>
      </p:sp>
      <p:sp>
        <p:nvSpPr>
          <p:cNvPr id="17" name="caption"/>
          <p:cNvSpPr txBox="1"/>
          <p:nvPr/>
        </p:nvSpPr>
        <p:spPr>
          <a:xfrm>
            <a:off x="812800" y="55372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Схема окна Cursor. Рабочий приём: держите чат открытым всегда — 90% работы происходит именно там.</a:t>
            </a:r>
            <a:endParaRPr lang="en-US" sz="1100" noProof="1"/>
          </a:p>
        </p:txBody>
      </p:sp>
      <p:sp>
        <p:nvSpPr>
          <p:cNvPr id="18" name="keys-label"/>
          <p:cNvSpPr txBox="1"/>
          <p:nvPr/>
        </p:nvSpPr>
        <p:spPr>
          <a:xfrm>
            <a:off x="8382000" y="1574800"/>
            <a:ext cx="299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ТРИ ГОРЯЧИЕ КЛАВИШИ</a:t>
            </a:r>
            <a:endParaRPr lang="en-US" sz="1200" noProof="1"/>
          </a:p>
        </p:txBody>
      </p:sp>
      <p:sp>
        <p:nvSpPr>
          <p:cNvPr id="19" name="keys-list"/>
          <p:cNvSpPr txBox="1"/>
          <p:nvPr/>
        </p:nvSpPr>
        <p:spPr>
          <a:xfrm>
            <a:off x="8382000" y="1930400"/>
            <a:ext cx="29972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Ctrl + L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открыть чат с ИИ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Ctrl + I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режим «агент»: ИИ сам создаёт и правит файлы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Ctrl + `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панель снизу: там видно ошибки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На Mac вместо Ctrl — Cmd.</a:t>
            </a:r>
            <a:endParaRPr lang="en-US" sz="1300" noProof="1"/>
          </a:p>
        </p:txBody>
      </p:sp>
      <p:sp>
        <p:nvSpPr>
          <p:cNvPr id="20" name="tip-panel"/>
          <p:cNvSpPr/>
          <p:nvPr/>
        </p:nvSpPr>
        <p:spPr>
          <a:xfrm>
            <a:off x="8382000" y="4673600"/>
            <a:ext cx="2997200" cy="13716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21" name="tip-text"/>
          <p:cNvSpPr txBox="1"/>
          <p:nvPr/>
        </p:nvSpPr>
        <p:spPr>
          <a:xfrm>
            <a:off x="8585200" y="4826000"/>
            <a:ext cx="2590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75C"/>
                </a:solidFill>
                <a:latin typeface="Inter"/>
                <a:ea typeface="Inter"/>
              </a:rPr>
              <a:t>Ничего не бойтесь сломать.</a:t>
            </a:r>
            <a:r>
              <a:rPr lang="en-US" sz="1150" noProof="1">
                <a:solidFill>
                  <a:srgbClr val="6E675C"/>
                </a:solidFill>
                <a:latin typeface="Inter"/>
                <a:ea typeface="Inter"/>
              </a:rPr>
              <a:t> Худшее, что случится, — ИИ напишет не то. Тогда просто пишете в чат: «Отмени, верни как было».</a:t>
            </a:r>
            <a:endParaRPr lang="en-US" sz="1150" noProof="1"/>
          </a:p>
        </p:txBody>
      </p:sp>
      <p:sp>
        <p:nvSpPr>
          <p:cNvPr id="22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7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Промпт — это техзадание. Ставьте его как новому сотруднику</a:t>
            </a:r>
            <a:endParaRPr lang="en-US" sz="2700" noProof="1"/>
          </a:p>
        </p:txBody>
      </p:sp>
      <p:sp>
        <p:nvSpPr>
          <p:cNvPr id="4" name="def-text"/>
          <p:cNvSpPr txBox="1"/>
          <p:nvPr/>
        </p:nvSpPr>
        <p:spPr>
          <a:xfrm>
            <a:off x="812800" y="1473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Промпт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— текстовый запрос к ИИ. ИИ не видит вашу голову: всё, что не написано, он придумает сам — и часто не так, как вы хотели. Хороший промпт собирается из четырёх частей.</a:t>
            </a:r>
            <a:endParaRPr lang="en-US" sz="1400" noProof="1"/>
          </a:p>
        </p:txBody>
      </p:sp>
      <p:sp>
        <p:nvSpPr>
          <p:cNvPr id="5" name="f1-num"/>
          <p:cNvSpPr txBox="1"/>
          <p:nvPr/>
        </p:nvSpPr>
        <p:spPr>
          <a:xfrm>
            <a:off x="812800" y="2286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410C"/>
                </a:solidFill>
                <a:latin typeface="Inter"/>
                <a:ea typeface="Inter"/>
              </a:rPr>
              <a:t>ЧТО</a:t>
            </a:r>
            <a:endParaRPr lang="en-US" sz="2600" noProof="1"/>
          </a:p>
        </p:txBody>
      </p:sp>
      <p:sp>
        <p:nvSpPr>
          <p:cNvPr id="6" name="f1-body"/>
          <p:cNvSpPr txBox="1"/>
          <p:nvPr/>
        </p:nvSpPr>
        <p:spPr>
          <a:xfrm>
            <a:off x="2032000" y="2286000"/>
            <a:ext cx="368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Что делаем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Тип результата: сайт, таблица, форма, маленькая программа.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«Сделай одностраничный сайт…»</a:t>
            </a:r>
            <a:endParaRPr lang="en-US" sz="1300" noProof="1"/>
          </a:p>
        </p:txBody>
      </p:sp>
      <p:sp>
        <p:nvSpPr>
          <p:cNvPr id="7" name="f2-num"/>
          <p:cNvSpPr txBox="1"/>
          <p:nvPr/>
        </p:nvSpPr>
        <p:spPr>
          <a:xfrm>
            <a:off x="6477000" y="2286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410C"/>
                </a:solidFill>
                <a:latin typeface="Inter"/>
                <a:ea typeface="Inter"/>
              </a:rPr>
              <a:t>КОМУ</a:t>
            </a:r>
            <a:endParaRPr lang="en-US" sz="2600" noProof="1"/>
          </a:p>
        </p:txBody>
      </p:sp>
      <p:sp>
        <p:nvSpPr>
          <p:cNvPr id="8" name="f2-body"/>
          <p:cNvSpPr txBox="1"/>
          <p:nvPr/>
        </p:nvSpPr>
        <p:spPr>
          <a:xfrm>
            <a:off x="7696200" y="2286000"/>
            <a:ext cx="368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Для кого и зачем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Кто будет пользоваться и какую задачу решает.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«…для поставщиков, чтобы они видели контакты и статус заявки»</a:t>
            </a:r>
            <a:endParaRPr lang="en-US" sz="1300" noProof="1"/>
          </a:p>
        </p:txBody>
      </p:sp>
      <p:sp>
        <p:nvSpPr>
          <p:cNvPr id="9" name="f3-num"/>
          <p:cNvSpPr txBox="1"/>
          <p:nvPr/>
        </p:nvSpPr>
        <p:spPr>
          <a:xfrm>
            <a:off x="812800" y="3810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410C"/>
                </a:solidFill>
                <a:latin typeface="Inter"/>
                <a:ea typeface="Inter"/>
              </a:rPr>
              <a:t>ВНУТРИ</a:t>
            </a:r>
            <a:endParaRPr lang="en-US" sz="2600" noProof="1"/>
          </a:p>
        </p:txBody>
      </p:sp>
      <p:sp>
        <p:nvSpPr>
          <p:cNvPr id="10" name="f3-body"/>
          <p:cNvSpPr txBox="1"/>
          <p:nvPr/>
        </p:nvSpPr>
        <p:spPr>
          <a:xfrm>
            <a:off x="2540000" y="3810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Что должно быть внутри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Перечислите разделы, поля, кнопки — по списку.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«Разделы: о нас, услуги, контакты. На странице — форма заявки»</a:t>
            </a:r>
            <a:endParaRPr lang="en-US" sz="1300" noProof="1"/>
          </a:p>
        </p:txBody>
      </p:sp>
      <p:sp>
        <p:nvSpPr>
          <p:cNvPr id="11" name="f4-num"/>
          <p:cNvSpPr txBox="1"/>
          <p:nvPr/>
        </p:nvSpPr>
        <p:spPr>
          <a:xfrm>
            <a:off x="6477000" y="3810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410C"/>
                </a:solidFill>
                <a:latin typeface="Inter"/>
                <a:ea typeface="Inter"/>
              </a:rPr>
              <a:t>КАК</a:t>
            </a:r>
            <a:endParaRPr lang="en-US" sz="2600" noProof="1"/>
          </a:p>
        </p:txBody>
      </p:sp>
      <p:sp>
        <p:nvSpPr>
          <p:cNvPr id="12" name="f4-body"/>
          <p:cNvSpPr txBox="1"/>
          <p:nvPr/>
        </p:nvSpPr>
        <p:spPr>
          <a:xfrm>
            <a:off x="7696200" y="3810000"/>
            <a:ext cx="3683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Как это выглядит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Стиль, цвета, настроение. Можно ссылаться на примеры.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«Спокойный стиль, белый фон, фирменный синий, без анимаций»</a:t>
            </a:r>
            <a:endParaRPr lang="en-US" sz="1300" noProof="1"/>
          </a:p>
        </p:txBody>
      </p:sp>
      <p:sp>
        <p:nvSpPr>
          <p:cNvPr id="13" name="line-mid"/>
          <p:cNvSpPr/>
          <p:nvPr>
            <p:extLst>
              <p:ext uri="{F5677B7D-0D2A-4D9B-9A5C-6D8D7D0E5A5D}">
                <pptd:line encoding="base64url">eyJ2aWV3Qm94IjpbMSwyMzBdLCJwb2ludHMiOiIwLDAgMCwyMzAiLCJjdXJ2ZSI6InNoYXJwIn0</pptd:line>
              </p:ext>
            </p:extLst>
          </p:nvPr>
        </p:nvSpPr>
        <p:spPr>
          <a:xfrm>
            <a:off x="6096000" y="2286000"/>
            <a:ext cx="12700" cy="2921000"/>
          </a:xfrm>
          <a:custGeom>
            <a:avLst/>
            <a:gdLst/>
            <a:ahLst/>
            <a:cxnLst/>
            <a:rect l="l" t="t" r="r" b="b"/>
            <a:pathLst>
              <a:path w="1" h="230">
                <a:moveTo>
                  <a:pt x="0" y="0"/>
                </a:moveTo>
                <a:lnTo>
                  <a:pt x="0" y="23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4" name="bottom-panel"/>
          <p:cNvSpPr/>
          <p:nvPr/>
        </p:nvSpPr>
        <p:spPr>
          <a:xfrm>
            <a:off x="812800" y="5461000"/>
            <a:ext cx="10566400" cy="7620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5" name="bottom-text"/>
          <p:cNvSpPr txBox="1"/>
          <p:nvPr/>
        </p:nvSpPr>
        <p:spPr>
          <a:xfrm>
            <a:off x="1117600" y="56134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 b="1">
                <a:solidFill>
                  <a:srgbClr val="1C1A17"/>
                </a:solidFill>
                <a:latin typeface="Inter"/>
                <a:ea typeface="Inter"/>
              </a:rPr>
              <a:t>Проверка перед отправкой:</a:t>
            </a:r>
            <a:r>
              <a:rPr lang="en-US" sz="1400" noProof="1">
                <a:solidFill>
                  <a:srgbClr val="1C1A17"/>
                </a:solidFill>
                <a:latin typeface="Inter"/>
                <a:ea typeface="Inter"/>
              </a:rPr>
              <a:t> если бы вы дали этот текст коллеге-стажёру, он бы понял задачу без уточняющих вопросов? Если да — промпт хороший.</a:t>
            </a:r>
            <a:endParaRPr lang="en-US" sz="1400" noProof="1"/>
          </a:p>
        </p:txBody>
      </p:sp>
      <p:sp>
        <p:nvSpPr>
          <p:cNvPr id="16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8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1. КАК ЭТО РАБОТАЕТ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Одна и та же задача: слабый запрос и сильный запрос</a:t>
            </a:r>
            <a:endParaRPr lang="en-US" sz="2700" noProof="1"/>
          </a:p>
        </p:txBody>
      </p:sp>
      <p:sp>
        <p:nvSpPr>
          <p:cNvPr id="4" name="bad-label"/>
          <p:cNvSpPr txBox="1"/>
          <p:nvPr/>
        </p:nvSpPr>
        <p:spPr>
          <a:xfrm>
            <a:off x="812800" y="1549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6E675C"/>
                </a:solidFill>
                <a:latin typeface="Inter"/>
                <a:ea typeface="Inter"/>
              </a:rPr>
              <a:t>ТАК ПИСАТЬ НЕ СТОИТ</a:t>
            </a:r>
            <a:endParaRPr lang="en-US" sz="1200" noProof="1"/>
          </a:p>
        </p:txBody>
      </p:sp>
      <p:sp>
        <p:nvSpPr>
          <p:cNvPr id="5" name="bad-panel"/>
          <p:cNvSpPr/>
          <p:nvPr/>
        </p:nvSpPr>
        <p:spPr>
          <a:xfrm>
            <a:off x="812800" y="1879600"/>
            <a:ext cx="5080000" cy="889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6" name="bad-quote"/>
          <p:cNvSpPr txBox="1"/>
          <p:nvPr/>
        </p:nvSpPr>
        <p:spPr>
          <a:xfrm>
            <a:off x="1041400" y="2057400"/>
            <a:ext cx="462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i="1">
                <a:solidFill>
                  <a:srgbClr val="6E675C"/>
                </a:solidFill>
                <a:latin typeface="Inter"/>
                <a:ea typeface="Inter"/>
              </a:rPr>
              <a:t>«Сделай сайт»</a:t>
            </a:r>
            <a:endParaRPr lang="en-US" sz="1600" noProof="1"/>
          </a:p>
        </p:txBody>
      </p:sp>
      <p:sp>
        <p:nvSpPr>
          <p:cNvPr id="7" name="bad-why"/>
          <p:cNvSpPr txBox="1"/>
          <p:nvPr/>
        </p:nvSpPr>
        <p:spPr>
          <a:xfrm>
            <a:off x="812800" y="29464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Что получится: ИИ выдумает всё сам — компанию, разделы, тексты и стиль. Почти наверняка не то, что вам нужно, и переделывать придётся дольше, чем писать запрос подробно.</a:t>
            </a:r>
            <a:endParaRPr lang="en-US" sz="1300" noProof="1"/>
          </a:p>
        </p:txBody>
      </p:sp>
      <p:sp>
        <p:nvSpPr>
          <p:cNvPr id="8" name="good-label"/>
          <p:cNvSpPr txBox="1"/>
          <p:nvPr/>
        </p:nvSpPr>
        <p:spPr>
          <a:xfrm>
            <a:off x="6350000" y="15494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А ТАК — ПРАВИЛЬНО</a:t>
            </a:r>
            <a:endParaRPr lang="en-US" sz="1200" noProof="1"/>
          </a:p>
        </p:txBody>
      </p:sp>
      <p:sp>
        <p:nvSpPr>
          <p:cNvPr id="9" name="good-panel"/>
          <p:cNvSpPr/>
          <p:nvPr/>
        </p:nvSpPr>
        <p:spPr>
          <a:xfrm>
            <a:off x="6350000" y="1879600"/>
            <a:ext cx="5029200" cy="27432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0" name="good-quote"/>
          <p:cNvSpPr txBox="1"/>
          <p:nvPr/>
        </p:nvSpPr>
        <p:spPr>
          <a:xfrm>
            <a:off x="6578600" y="2057400"/>
            <a:ext cx="4572000" cy="246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«Сделай одностраничный сайт логистической компании “Волга-Транс”.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Для кого: для клиентов и партнёров.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Разделы: шапка с названием и телефоном; услуги (доставка по РФ, склад, страхование); калькулятор стоимости (простой: город откуда, куда, вес); контакты с формой заявки.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Стиль: строгий, белый фон, тёмно-синие заголовки, без анимаций. Тексты напиши сам, на русском».</a:t>
            </a:r>
            <a:endParaRPr lang="en-US" sz="1250" noProof="1"/>
          </a:p>
        </p:txBody>
      </p:sp>
      <p:sp>
        <p:nvSpPr>
          <p:cNvPr id="11" name="good-why"/>
          <p:cNvSpPr txBox="1"/>
          <p:nvPr/>
        </p:nvSpPr>
        <p:spPr>
          <a:xfrm>
            <a:off x="6350000" y="4800600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Почему это работает: есть все четыре части — что, кому, что внутри, как выглядит. ИИ не приходится гадать.</a:t>
            </a:r>
            <a:endParaRPr lang="en-US" sz="1300" noProof="1"/>
          </a:p>
        </p:txBody>
      </p:sp>
      <p:sp>
        <p:nvSpPr>
          <p:cNvPr id="12" name="arrow"/>
          <p:cNvSpPr/>
          <p:nvPr>
            <p:extLst>
              <p:ext uri="{F5677B7D-0D2A-4D9B-9A5C-6D8D7D0E5A5D}">
                <pptd:line encoding="base64url">eyJ2aWV3Qm94IjpbMzAsMjBdLCJwb2ludHMiOiIwLDEwIDMwLDEwIiwiY3VydmUiOiJzaGFycCJ9</pptd:line>
              </p:ext>
            </p:extLst>
          </p:nvPr>
        </p:nvSpPr>
        <p:spPr>
          <a:xfrm>
            <a:off x="5918200" y="3048000"/>
            <a:ext cx="381000" cy="254000"/>
          </a:xfrm>
          <a:custGeom>
            <a:avLst/>
            <a:gdLst/>
            <a:ahLst/>
            <a:cxnLst/>
            <a:rect l="l" t="t" r="r" b="b"/>
            <a:pathLst>
              <a:path w="30" h="20">
                <a:moveTo>
                  <a:pt x="0" y="10"/>
                </a:moveTo>
                <a:lnTo>
                  <a:pt x="30" y="10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3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0960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4" name="footnote"/>
          <p:cNvSpPr txBox="1"/>
          <p:nvPr/>
        </p:nvSpPr>
        <p:spPr>
          <a:xfrm>
            <a:off x="812800" y="62484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Компания «Волга-Транс» — учебный пример. Подставьте свою компанию, свои разделы и свой стиль.</a:t>
            </a:r>
            <a:endParaRPr lang="en-US" sz="1100" noProof="1"/>
          </a:p>
        </p:txBody>
      </p:sp>
      <p:sp>
        <p:nvSpPr>
          <p:cNvPr id="15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9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2. ПРОЕКТ «САЙТ»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Шаг 1. Один запрос — и сайт уже существует</a:t>
            </a:r>
            <a:endParaRPr lang="en-US" sz="2700" noProof="1"/>
          </a:p>
        </p:txBody>
      </p:sp>
      <p:sp>
        <p:nvSpPr>
          <p:cNvPr id="4" name="steps-line"/>
          <p:cNvSpPr txBox="1"/>
          <p:nvPr/>
        </p:nvSpPr>
        <p:spPr>
          <a:xfrm>
            <a:off x="812800" y="1473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Inter"/>
                <a:ea typeface="Inter"/>
              </a:rPr>
              <a:t>Создать папку → открыть чат (Ctrl+I) → вставить запрос → нажать Enter</a:t>
            </a:r>
            <a:endParaRPr lang="en-US" sz="1200" noProof="1"/>
          </a:p>
        </p:txBody>
      </p:sp>
      <p:sp>
        <p:nvSpPr>
          <p:cNvPr id="5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9050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6" name="left-body"/>
          <p:cNvSpPr txBox="1"/>
          <p:nvPr/>
        </p:nvSpPr>
        <p:spPr>
          <a:xfrm>
            <a:off x="812800" y="2133600"/>
            <a:ext cx="4826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Что происходит дальше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ИИ в режиме агента (Ctrl+I) сам создаёт файлы: </a:t>
            </a:r>
            <a:r>
              <a:rPr lang="en-US" sz="1300" noProof="1">
                <a:solidFill>
                  <a:srgbClr val="C2410C"/>
                </a:solidFill>
                <a:latin typeface="Inter"/>
                <a:ea typeface="Inter"/>
              </a:rPr>
              <a:t>index.html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, </a:t>
            </a:r>
            <a:r>
              <a:rPr lang="en-US" sz="1300" noProof="1">
                <a:solidFill>
                  <a:srgbClr val="C2410C"/>
                </a:solidFill>
                <a:latin typeface="Inter"/>
                <a:ea typeface="Inter"/>
              </a:rPr>
              <a:t>style.css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и другие. Вы видите в чате, что он делает.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Ваша роль на этом шаге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Только наблюдать. Когда ИИ закончит, он напишет, что сделал, и как посмотреть результат. Обычно это: «откройте файл index.html в браузере».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Если ИИ спрашивает разрешения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выполнить команду — смело нажимайте «Run» / «Выполнить».</a:t>
            </a:r>
            <a:endParaRPr lang="en-US" sz="1300" noProof="1"/>
          </a:p>
        </p:txBody>
      </p:sp>
      <p:sp>
        <p:nvSpPr>
          <p:cNvPr id="7" name="prompt-label"/>
          <p:cNvSpPr txBox="1"/>
          <p:nvPr/>
        </p:nvSpPr>
        <p:spPr>
          <a:xfrm>
            <a:off x="6350000" y="21336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ГОТОВЫЙ ЗАПРОС — СКОПИРУЙТЕ И ПОДСТАВЬТЕ СВОЁ</a:t>
            </a:r>
            <a:endParaRPr lang="en-US" sz="1200" noProof="1"/>
          </a:p>
        </p:txBody>
      </p:sp>
      <p:sp>
        <p:nvSpPr>
          <p:cNvPr id="8" name="prompt-panel"/>
          <p:cNvSpPr/>
          <p:nvPr/>
        </p:nvSpPr>
        <p:spPr>
          <a:xfrm>
            <a:off x="6350000" y="2463800"/>
            <a:ext cx="5029200" cy="28448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9" name="prompt-text"/>
          <p:cNvSpPr txBox="1"/>
          <p:nvPr/>
        </p:nvSpPr>
        <p:spPr>
          <a:xfrm>
            <a:off x="6578600" y="26416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C1A17"/>
                </a:solidFill>
                <a:latin typeface="Inter"/>
                <a:ea typeface="Inter"/>
              </a:rPr>
              <a:t>«Создай в этой папке одностраничный сайт отдела закупок компании [название].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1C1A17"/>
                </a:solidFill>
                <a:latin typeface="Inter"/>
                <a:ea typeface="Inter"/>
              </a:rPr>
              <a:t>Для кого: для сотрудников склада и поставщиков.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1C1A17"/>
                </a:solidFill>
                <a:latin typeface="Inter"/>
                <a:ea typeface="Inter"/>
              </a:rPr>
              <a:t>Разделы: 1) чем занимается отдел, 2) регламенты и формы заявок (списком), 3) контакты сотрудников (таблица: имя, роль, почта, телефон), 4) частые вопросы.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1C1A17"/>
                </a:solidFill>
                <a:latin typeface="Inter"/>
                <a:ea typeface="Inter"/>
              </a:rPr>
              <a:t>Стиль: строгий, белый фон, тёмно-серый текст, акцент — [фирменный цвет]. Без лишних эффектов. Тексты напиши сам на русском».</a:t>
            </a:r>
            <a:endParaRPr lang="en-US" sz="1200" noProof="1"/>
          </a:p>
        </p:txBody>
      </p:sp>
      <p:sp>
        <p:nvSpPr>
          <p:cNvPr id="10" name="check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5689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1" name="check-text"/>
          <p:cNvSpPr txBox="1"/>
          <p:nvPr/>
        </p:nvSpPr>
        <p:spPr>
          <a:xfrm>
            <a:off x="812800" y="586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Inter"/>
                <a:ea typeface="Inter"/>
              </a:rPr>
              <a:t>Критерий завершения шага:</a:t>
            </a: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 в папке появились файлы, и при открытии index.html в браузере вы видите страницу с разделами из вашего запроса.</a:t>
            </a:r>
            <a:endParaRPr lang="en-US" sz="1200" noProof="1"/>
          </a:p>
        </p:txBody>
      </p:sp>
      <p:sp>
        <p:nvSpPr>
          <p:cNvPr id="12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10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2. ПРОЕКТ «САЙТ»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Шаг 2. Доработка: с первого раза идеально не бывает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cycle-label"/>
          <p:cNvSpPr txBox="1"/>
          <p:nvPr/>
        </p:nvSpPr>
        <p:spPr>
          <a:xfrm>
            <a:off x="812800" y="177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РАБОЧИЙ ЦИКЛ — ПОВТОРЯЕТЕ ЕГО 5–10 РАЗ</a:t>
            </a:r>
            <a:endParaRPr lang="en-US" sz="1200" noProof="1"/>
          </a:p>
        </p:txBody>
      </p:sp>
      <p:sp>
        <p:nvSpPr>
          <p:cNvPr id="6" name="c1"/>
          <p:cNvSpPr/>
          <p:nvPr/>
        </p:nvSpPr>
        <p:spPr>
          <a:xfrm>
            <a:off x="812800" y="2184400"/>
            <a:ext cx="1524000" cy="6858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7" name="c1t"/>
          <p:cNvSpPr txBox="1"/>
          <p:nvPr/>
        </p:nvSpPr>
        <p:spPr>
          <a:xfrm>
            <a:off x="889000" y="2286000"/>
            <a:ext cx="137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Смотрите сайт в браузере</a:t>
            </a:r>
            <a:endParaRPr lang="en-US" sz="1100" noProof="1"/>
          </a:p>
        </p:txBody>
      </p:sp>
      <p:sp>
        <p:nvSpPr>
          <p:cNvPr id="8" name="a1"/>
          <p:cNvSpPr/>
          <p:nvPr>
            <p:extLst>
              <p:ext uri="{F5677B7D-0D2A-4D9B-9A5C-6D8D7D0E5A5D}">
                <pptd:line encoding="base64url">eyJ2aWV3Qm94IjpbMjQsMTBdLCJwb2ludHMiOiIwLDUgMjQsNSIsImN1cnZlIjoic2hhcnAifQ</pptd:line>
              </p:ext>
            </p:extLst>
          </p:nvPr>
        </p:nvSpPr>
        <p:spPr>
          <a:xfrm>
            <a:off x="2387600" y="2463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9" name="c2"/>
          <p:cNvSpPr/>
          <p:nvPr/>
        </p:nvSpPr>
        <p:spPr>
          <a:xfrm>
            <a:off x="2743200" y="2184400"/>
            <a:ext cx="1524000" cy="6858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0" name="c2t"/>
          <p:cNvSpPr txBox="1"/>
          <p:nvPr/>
        </p:nvSpPr>
        <p:spPr>
          <a:xfrm>
            <a:off x="2819400" y="2286000"/>
            <a:ext cx="137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Замечаете, что не так</a:t>
            </a:r>
            <a:endParaRPr lang="en-US" sz="1100" noProof="1"/>
          </a:p>
        </p:txBody>
      </p:sp>
      <p:sp>
        <p:nvSpPr>
          <p:cNvPr id="11" name="a2"/>
          <p:cNvSpPr/>
          <p:nvPr>
            <p:extLst>
              <p:ext uri="{F5677B7D-0D2A-4D9B-9A5C-6D8D7D0E5A5D}">
                <pptd:line encoding="base64url">eyJ2aWV3Qm94IjpbMjQsMTBdLCJwb2ludHMiOiIwLDUgMjQsNSIsImN1cnZlIjoic2hhcnAifQ</pptd:line>
              </p:ext>
            </p:extLst>
          </p:nvPr>
        </p:nvSpPr>
        <p:spPr>
          <a:xfrm>
            <a:off x="4318000" y="2463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2" name="c3"/>
          <p:cNvSpPr/>
          <p:nvPr/>
        </p:nvSpPr>
        <p:spPr>
          <a:xfrm>
            <a:off x="4673600" y="2184400"/>
            <a:ext cx="1524000" cy="6858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3" name="c3t"/>
          <p:cNvSpPr txBox="1"/>
          <p:nvPr/>
        </p:nvSpPr>
        <p:spPr>
          <a:xfrm>
            <a:off x="4749800" y="2286000"/>
            <a:ext cx="137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Пишете одну правку в чат</a:t>
            </a:r>
            <a:endParaRPr lang="en-US" sz="1100" noProof="1"/>
          </a:p>
        </p:txBody>
      </p:sp>
      <p:sp>
        <p:nvSpPr>
          <p:cNvPr id="14" name="a3"/>
          <p:cNvSpPr/>
          <p:nvPr>
            <p:extLst>
              <p:ext uri="{F5677B7D-0D2A-4D9B-9A5C-6D8D7D0E5A5D}">
                <pptd:line encoding="base64url">eyJ2aWV3Qm94IjpbMjQsMTBdLCJwb2ludHMiOiIwLDUgMjQsNSIsImN1cnZlIjoic2hhcnAifQ</pptd:line>
              </p:ext>
            </p:extLst>
          </p:nvPr>
        </p:nvSpPr>
        <p:spPr>
          <a:xfrm>
            <a:off x="6248400" y="2463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5" name="c4"/>
          <p:cNvSpPr/>
          <p:nvPr/>
        </p:nvSpPr>
        <p:spPr>
          <a:xfrm>
            <a:off x="6604000" y="2184400"/>
            <a:ext cx="1524000" cy="6858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6" name="c4t"/>
          <p:cNvSpPr txBox="1"/>
          <p:nvPr/>
        </p:nvSpPr>
        <p:spPr>
          <a:xfrm>
            <a:off x="6680200" y="2286000"/>
            <a:ext cx="137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C2410C"/>
                </a:solidFill>
                <a:latin typeface="Inter"/>
                <a:ea typeface="Inter"/>
              </a:rPr>
              <a:t>Обновляете страницу (F5)</a:t>
            </a:r>
            <a:endParaRPr lang="en-US" sz="1100" noProof="1"/>
          </a:p>
        </p:txBody>
      </p:sp>
      <p:sp>
        <p:nvSpPr>
          <p:cNvPr id="17" name="rule-text"/>
          <p:cNvSpPr txBox="1"/>
          <p:nvPr/>
        </p:nvSpPr>
        <p:spPr>
          <a:xfrm>
            <a:off x="8636000" y="2133600"/>
            <a:ext cx="2743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Главное правило: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одна просьба — одно изменение. Не пишите пять правок одним сообщением.</a:t>
            </a:r>
            <a:endParaRPr lang="en-US" sz="1250" noProof="1"/>
          </a:p>
        </p:txBody>
      </p:sp>
      <p:sp>
        <p:nvSpPr>
          <p:cNvPr id="18" name="examples-label"/>
          <p:cNvSpPr txBox="1"/>
          <p:nvPr/>
        </p:nvSpPr>
        <p:spPr>
          <a:xfrm>
            <a:off x="812800" y="3276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ПРИМЕРЫ ХОРОШИХ ПРАВОК (КОНКРЕТНЫЕ, КАК РЕМАРКИ В ДОГОВОРЕ)</a:t>
            </a:r>
            <a:endParaRPr lang="en-US" sz="1200" noProof="1"/>
          </a:p>
        </p:txBody>
      </p:sp>
      <p:sp>
        <p:nvSpPr>
          <p:cNvPr id="19" name="ex-list"/>
          <p:cNvSpPr txBox="1"/>
          <p:nvPr/>
        </p:nvSpPr>
        <p:spPr>
          <a:xfrm>
            <a:off x="812800" y="3632200"/>
            <a:ext cx="635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«Сделай шапку тёмно-синей, а текст в ней белым»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«В таблице контактов добавь столбец “рабочие часы”»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«Замени придуманные тексты в разделе “О нас” на этот текст: …»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«Кнопку “Отправить заявку” сделай крупнее и оранжевой»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«Убери раздел “Новости” совсем»</a:t>
            </a:r>
            <a:endParaRPr lang="en-US" sz="1300" noProof="1"/>
          </a:p>
        </p:txBody>
      </p:sp>
      <p:sp>
        <p:nvSpPr>
          <p:cNvPr id="20" name="right-panel"/>
          <p:cNvSpPr/>
          <p:nvPr/>
        </p:nvSpPr>
        <p:spPr>
          <a:xfrm>
            <a:off x="7823200" y="3276600"/>
            <a:ext cx="3556000" cy="23876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21" name="right-bar"/>
          <p:cNvSpPr/>
          <p:nvPr/>
        </p:nvSpPr>
        <p:spPr>
          <a:xfrm>
            <a:off x="7823200" y="3276600"/>
            <a:ext cx="50800" cy="23876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22" name="right-title"/>
          <p:cNvSpPr txBox="1"/>
          <p:nvPr/>
        </p:nvSpPr>
        <p:spPr>
          <a:xfrm>
            <a:off x="8128000" y="3454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КАК СМОТРЕТЬ РЕЗУЛЬТАТ</a:t>
            </a:r>
            <a:endParaRPr lang="en-US" sz="1200" noProof="1"/>
          </a:p>
        </p:txBody>
      </p:sp>
      <p:sp>
        <p:nvSpPr>
          <p:cNvPr id="23" name="right-text"/>
          <p:cNvSpPr txBox="1"/>
          <p:nvPr/>
        </p:nvSpPr>
        <p:spPr>
          <a:xfrm>
            <a:off x="8128000" y="3784600"/>
            <a:ext cx="3048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Найдите файл index.html в папке проекта (через обычный проводник) и откройте двойным щелчком — он откроется в браузере.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После каждой правки ИИ просто обновите страницу клавишей F5.</a:t>
            </a:r>
            <a:endParaRPr lang="en-US" sz="1200" noProof="1"/>
          </a:p>
        </p:txBody>
      </p:sp>
      <p:sp>
        <p:nvSpPr>
          <p:cNvPr id="2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11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2. ПРОЕКТ «САЙТ»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Шаг 3. Как показать сайт коллегам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opt1-label"/>
          <p:cNvSpPr txBox="1"/>
          <p:nvPr/>
        </p:nvSpPr>
        <p:spPr>
          <a:xfrm>
            <a:off x="812800" y="1803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500" noProof="1" b="1">
                <a:solidFill>
                  <a:srgbClr val="C2410C"/>
                </a:solidFill>
                <a:latin typeface="Inter"/>
                <a:ea typeface="Inter"/>
              </a:rPr>
              <a:t>Уровень 1.</a:t>
            </a: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 Показать со своего компьютера</a:t>
            </a:r>
            <a:endParaRPr lang="en-US" sz="1500" noProof="1"/>
          </a:p>
        </p:txBody>
      </p:sp>
      <p:sp>
        <p:nvSpPr>
          <p:cNvPr id="6" name="opt1-body"/>
          <p:cNvSpPr txBox="1"/>
          <p:nvPr/>
        </p:nvSpPr>
        <p:spPr>
          <a:xfrm>
            <a:off x="812800" y="24130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Просто открываете index.html и показываете на встрече. Подходит для демонстрации идеи руководителю.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6E675C"/>
                </a:solidFill>
                <a:latin typeface="Inter"/>
                <a:ea typeface="Inter"/>
              </a:rPr>
              <a:t>Ничего настраивать не нужно.</a:t>
            </a:r>
            <a:endParaRPr lang="en-US" sz="1250" noProof="1"/>
          </a:p>
        </p:txBody>
      </p:sp>
      <p:sp>
        <p:nvSpPr>
          <p:cNvPr id="7" name="opt2-label"/>
          <p:cNvSpPr txBox="1"/>
          <p:nvPr/>
        </p:nvSpPr>
        <p:spPr>
          <a:xfrm>
            <a:off x="4521200" y="1803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500" noProof="1" b="1">
                <a:solidFill>
                  <a:srgbClr val="C2410C"/>
                </a:solidFill>
                <a:latin typeface="Inter"/>
                <a:ea typeface="Inter"/>
              </a:rPr>
              <a:t>Уровень 2.</a:t>
            </a: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 Раздать коллегам по офису</a:t>
            </a:r>
            <a:endParaRPr lang="en-US" sz="1500" noProof="1"/>
          </a:p>
        </p:txBody>
      </p:sp>
      <p:sp>
        <p:nvSpPr>
          <p:cNvPr id="8" name="opt2-body"/>
          <p:cNvSpPr txBox="1"/>
          <p:nvPr/>
        </p:nvSpPr>
        <p:spPr>
          <a:xfrm>
            <a:off x="4521200" y="24130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Скопируйте всю папку проекта на общий сетевой диск или отправьте архивом. Коллега открывает index.html у себя — сайт работает.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6E675C"/>
                </a:solidFill>
                <a:latin typeface="Inter"/>
                <a:ea typeface="Inter"/>
              </a:rPr>
              <a:t>Важно: отправлять нужно всю папку целиком, не один файл.</a:t>
            </a:r>
            <a:endParaRPr lang="en-US" sz="1250" noProof="1"/>
          </a:p>
        </p:txBody>
      </p:sp>
      <p:sp>
        <p:nvSpPr>
          <p:cNvPr id="9" name="opt3-label"/>
          <p:cNvSpPr txBox="1"/>
          <p:nvPr/>
        </p:nvSpPr>
        <p:spPr>
          <a:xfrm>
            <a:off x="8229600" y="1803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500" noProof="1" b="1">
                <a:solidFill>
                  <a:srgbClr val="C2410C"/>
                </a:solidFill>
                <a:latin typeface="Inter"/>
                <a:ea typeface="Inter"/>
              </a:rPr>
              <a:t>Уровень 3.</a:t>
            </a:r>
            <a:r>
              <a:rPr lang="en-US" sz="1500" noProof="1" b="1">
                <a:solidFill>
                  <a:srgbClr val="1C1A17"/>
                </a:solidFill>
                <a:latin typeface="Inter"/>
                <a:ea typeface="Inter"/>
              </a:rPr>
              <a:t> Адрес в интернете</a:t>
            </a:r>
            <a:endParaRPr lang="en-US" sz="1500" noProof="1"/>
          </a:p>
        </p:txBody>
      </p:sp>
      <p:sp>
        <p:nvSpPr>
          <p:cNvPr id="10" name="opt3-body"/>
          <p:cNvSpPr txBox="1"/>
          <p:nvPr/>
        </p:nvSpPr>
        <p:spPr>
          <a:xfrm>
            <a:off x="8229600" y="24130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Бесплатные сервисы вроде Netlify Drop: перетаскиваете папку мышкой на страницу — получаете ссылку, которая открывается отовсюду.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6E675C"/>
                </a:solidFill>
                <a:latin typeface="Inter"/>
                <a:ea typeface="Inter"/>
              </a:rPr>
              <a:t>Можно попросить ИИ: «Объясни по шагам, как выложить мой сайт на Netlify».</a:t>
            </a:r>
            <a:endParaRPr lang="en-US" sz="1250" noProof="1"/>
          </a:p>
        </p:txBody>
      </p:sp>
      <p:sp>
        <p:nvSpPr>
          <p:cNvPr id="11" name="vline1"/>
          <p:cNvSpPr/>
          <p:nvPr>
            <p:extLst>
              <p:ext uri="{F5677B7D-0D2A-4D9B-9A5C-6D8D7D0E5A5D}">
                <pptd:line encoding="base64url">eyJ2aWV3Qm94IjpbMSwxNzZdLCJwb2ludHMiOiIwLDAgMCwxNzYiLCJjdXJ2ZSI6InNoYXJwIn0</pptd:line>
              </p:ext>
            </p:extLst>
          </p:nvPr>
        </p:nvSpPr>
        <p:spPr>
          <a:xfrm>
            <a:off x="4191000" y="1854200"/>
            <a:ext cx="12700" cy="2235200"/>
          </a:xfrm>
          <a:custGeom>
            <a:avLst/>
            <a:gdLst/>
            <a:ahLst/>
            <a:cxnLst/>
            <a:rect l="l" t="t" r="r" b="b"/>
            <a:pathLst>
              <a:path w="1" h="176">
                <a:moveTo>
                  <a:pt x="0" y="0"/>
                </a:moveTo>
                <a:lnTo>
                  <a:pt x="0" y="176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2" name="vline2"/>
          <p:cNvSpPr/>
          <p:nvPr>
            <p:extLst>
              <p:ext uri="{F5677B7D-0D2A-4D9B-9A5C-6D8D7D0E5A5D}">
                <pptd:line encoding="base64url">eyJ2aWV3Qm94IjpbMSwxNzZdLCJwb2ludHMiOiIwLDAgMCwxNzYiLCJjdXJ2ZSI6InNoYXJwIn0</pptd:line>
              </p:ext>
            </p:extLst>
          </p:nvPr>
        </p:nvSpPr>
        <p:spPr>
          <a:xfrm>
            <a:off x="7899400" y="1854200"/>
            <a:ext cx="12700" cy="2235200"/>
          </a:xfrm>
          <a:custGeom>
            <a:avLst/>
            <a:gdLst/>
            <a:ahLst/>
            <a:cxnLst/>
            <a:rect l="l" t="t" r="r" b="b"/>
            <a:pathLst>
              <a:path w="1" h="176">
                <a:moveTo>
                  <a:pt x="0" y="0"/>
                </a:moveTo>
                <a:lnTo>
                  <a:pt x="0" y="176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3" name="warn-panel"/>
          <p:cNvSpPr/>
          <p:nvPr/>
        </p:nvSpPr>
        <p:spPr>
          <a:xfrm>
            <a:off x="812800" y="4521200"/>
            <a:ext cx="10566400" cy="1397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4" name="warn-bar"/>
          <p:cNvSpPr/>
          <p:nvPr/>
        </p:nvSpPr>
        <p:spPr>
          <a:xfrm>
            <a:off x="812800" y="4521200"/>
            <a:ext cx="50800" cy="13970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5" name="warn-title"/>
          <p:cNvSpPr txBox="1"/>
          <p:nvPr/>
        </p:nvSpPr>
        <p:spPr>
          <a:xfrm>
            <a:off x="1117600" y="46990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ЧЕСТНАЯ ГРАНИЦА</a:t>
            </a:r>
            <a:endParaRPr lang="en-US" sz="1200" noProof="1"/>
          </a:p>
        </p:txBody>
      </p:sp>
      <p:sp>
        <p:nvSpPr>
          <p:cNvPr id="16" name="warn-text"/>
          <p:cNvSpPr txBox="1"/>
          <p:nvPr/>
        </p:nvSpPr>
        <p:spPr>
          <a:xfrm>
            <a:off x="1117600" y="5003800"/>
            <a:ext cx="1000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Такой сайт — отличный инструмент для внутренних задач и для проверки идей. Но если это будущий официальный сайт компании с приёмом заявок от клиентов, защитой данных и юридическими требованиями — это уже задача для ИТ-отдела или подрядчика. Ваша самоделка станет для них отличным наглядным техзаданием.</a:t>
            </a:r>
            <a:endParaRPr lang="en-US" sz="1300" noProof="1"/>
          </a:p>
        </p:txBody>
      </p:sp>
      <p:sp>
        <p:nvSpPr>
          <p:cNvPr id="17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12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3. ПРОЕКТ «БАЗА ПОСТАВЩИКОВ»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Что строим: своя «1С в миниатюре» в браузере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pain-label"/>
          <p:cNvSpPr txBox="1"/>
          <p:nvPr/>
        </p:nvSpPr>
        <p:spPr>
          <a:xfrm>
            <a:off x="8128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ЗНАКОМАЯ БОЛЬ</a:t>
            </a:r>
            <a:endParaRPr lang="en-US" sz="1200" noProof="1"/>
          </a:p>
        </p:txBody>
      </p:sp>
      <p:sp>
        <p:nvSpPr>
          <p:cNvPr id="6" name="pain-list"/>
          <p:cNvSpPr txBox="1"/>
          <p:nvPr/>
        </p:nvSpPr>
        <p:spPr>
          <a:xfrm>
            <a:off x="812800" y="2159000"/>
            <a:ext cx="508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Список поставщиков живёт в Excel: десять версий файла, нет поиска по статусу, контакты устарели, фильтры ломаются, а коллега редактирует свою копию и ничего не совпадает.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Полноценная система закупок — дорого и долго. А вот маленький аккуратный инструмент под свою задачу вы теперь можете сделать сами.</a:t>
            </a:r>
            <a:endParaRPr lang="en-US" sz="1300" noProof="1"/>
          </a:p>
        </p:txBody>
      </p:sp>
      <p:sp>
        <p:nvSpPr>
          <p:cNvPr id="7" name="build-label"/>
          <p:cNvSpPr txBox="1"/>
          <p:nvPr/>
        </p:nvSpPr>
        <p:spPr>
          <a:xfrm>
            <a:off x="6604000" y="18034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ЧТО ПОЛУЧИТСЯ</a:t>
            </a:r>
            <a:endParaRPr lang="en-US" sz="1200" noProof="1"/>
          </a:p>
        </p:txBody>
      </p:sp>
      <p:sp>
        <p:nvSpPr>
          <p:cNvPr id="8" name="build-list"/>
          <p:cNvSpPr txBox="1"/>
          <p:nvPr/>
        </p:nvSpPr>
        <p:spPr>
          <a:xfrm>
            <a:off x="6604000" y="2159000"/>
            <a:ext cx="47752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Страница в браузере, где есть: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таблица поставщиков (название, ИНН, категория, город, контакт, статус);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форма «Добавить поставщика»;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поиск по названию и фильтр по статусу и категории;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кнопка «Выгрузить в Excel».</a:t>
            </a:r>
            <a:endParaRPr lang="en-US" sz="1300" noProof="1"/>
          </a:p>
        </p:txBody>
      </p:sp>
      <p:sp>
        <p:nvSpPr>
          <p:cNvPr id="9" name="storage-panel"/>
          <p:cNvSpPr/>
          <p:nvPr/>
        </p:nvSpPr>
        <p:spPr>
          <a:xfrm>
            <a:off x="812800" y="4622800"/>
            <a:ext cx="10566400" cy="13208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0" name="storage-bar"/>
          <p:cNvSpPr/>
          <p:nvPr/>
        </p:nvSpPr>
        <p:spPr>
          <a:xfrm>
            <a:off x="812800" y="4622800"/>
            <a:ext cx="50800" cy="1320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1" name="storage-title"/>
          <p:cNvSpPr txBox="1"/>
          <p:nvPr/>
        </p:nvSpPr>
        <p:spPr>
          <a:xfrm>
            <a:off x="1117600" y="4800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ВАЖНО ПОНИМАТЬ ЗАРАНЕЕ: ГДЕ ЖИВУТ ДАННЫЕ</a:t>
            </a:r>
            <a:endParaRPr lang="en-US" sz="1200" noProof="1"/>
          </a:p>
        </p:txBody>
      </p:sp>
      <p:sp>
        <p:nvSpPr>
          <p:cNvPr id="12" name="storage-text"/>
          <p:cNvSpPr txBox="1"/>
          <p:nvPr/>
        </p:nvSpPr>
        <p:spPr>
          <a:xfrm>
            <a:off x="1117600" y="5105400"/>
            <a:ext cx="10007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Простая версия хранит данные в вашем браузере (это называется localStorage): на вашем компьютере они сохраняются между запусками, но </a:t>
            </a: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коллеги их не видят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. Это личный инструмент. Совместная база для всего отдела — следующий уровень: ИИ поможет и с ней, но там уже нужен сервер, и лучше посоветоваться с ИТ.</a:t>
            </a:r>
            <a:endParaRPr lang="en-US" sz="1300" noProof="1"/>
          </a:p>
        </p:txBody>
      </p:sp>
      <p:sp>
        <p:nvSpPr>
          <p:cNvPr id="13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13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3. ПРОЕКТ «БАЗА ПОСТАВЩИКОВ»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Готовый запрос: копируйте, подставляйте своё, запускайте</a:t>
            </a:r>
            <a:endParaRPr lang="en-US" sz="2700" noProof="1"/>
          </a:p>
        </p:txBody>
      </p:sp>
      <p:sp>
        <p:nvSpPr>
          <p:cNvPr id="4" name="prompt-panel"/>
          <p:cNvSpPr/>
          <p:nvPr/>
        </p:nvSpPr>
        <p:spPr>
          <a:xfrm>
            <a:off x="812800" y="1549400"/>
            <a:ext cx="6350000" cy="41910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5" name="prompt-label"/>
          <p:cNvSpPr txBox="1"/>
          <p:nvPr/>
        </p:nvSpPr>
        <p:spPr>
          <a:xfrm>
            <a:off x="1066800" y="17272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10C"/>
                </a:solidFill>
                <a:latin typeface="Inter"/>
                <a:ea typeface="Inter"/>
              </a:rPr>
              <a:t>ЗАПРОС ДЛЯ CURSOR (Ctrl+I)</a:t>
            </a:r>
            <a:endParaRPr lang="en-US" sz="1100" noProof="1"/>
          </a:p>
        </p:txBody>
      </p:sp>
      <p:sp>
        <p:nvSpPr>
          <p:cNvPr id="6" name="prompt-text"/>
          <p:cNvSpPr txBox="1"/>
          <p:nvPr/>
        </p:nvSpPr>
        <p:spPr>
          <a:xfrm>
            <a:off x="1066800" y="2057400"/>
            <a:ext cx="58928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C1A17"/>
                </a:solidFill>
                <a:latin typeface="Inter"/>
                <a:ea typeface="Inter"/>
              </a:rPr>
              <a:t>«Создай в этой папке простую базу поставщиков — одну страницу, которая открывается в браузере и хранит данные в localStorage.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1C1A17"/>
                </a:solidFill>
                <a:latin typeface="Inter"/>
                <a:ea typeface="Inter"/>
              </a:rPr>
              <a:t>Поля поставщика: название, ИНН, категория (сырьё / упаковка / транспорт / услуги), город, контактное лицо, телефон, почта, статус (в работе / на паузе / заблокирован), комментарий.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1C1A17"/>
                </a:solidFill>
                <a:latin typeface="Inter"/>
                <a:ea typeface="Inter"/>
              </a:rPr>
              <a:t>Функции: добавить поставщика через форму; редактировать и удалять; искать по названию; фильтровать по категории и статусу; выгружать всё в CSV для Excel.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1C1A17"/>
                </a:solidFill>
                <a:latin typeface="Inter"/>
                <a:ea typeface="Inter"/>
              </a:rPr>
              <a:t>Стиль: аккуратная таблица, русский язык, без регистрации и сервера. Добавь 3 примера поставщиков, чтобы было видно, как это выглядит».</a:t>
            </a:r>
            <a:endParaRPr lang="en-US" sz="1150" noProof="1"/>
          </a:p>
        </p:txBody>
      </p:sp>
      <p:sp>
        <p:nvSpPr>
          <p:cNvPr id="7" name="why-label"/>
          <p:cNvSpPr txBox="1"/>
          <p:nvPr/>
        </p:nvSpPr>
        <p:spPr>
          <a:xfrm>
            <a:off x="7670800" y="1549400"/>
            <a:ext cx="370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ПОЧЕМУ ЗАПРОС ИМЕННО ТАКОЙ</a:t>
            </a:r>
            <a:endParaRPr lang="en-US" sz="1200" noProof="1"/>
          </a:p>
        </p:txBody>
      </p:sp>
      <p:sp>
        <p:nvSpPr>
          <p:cNvPr id="8" name="why-list"/>
          <p:cNvSpPr txBox="1"/>
          <p:nvPr/>
        </p:nvSpPr>
        <p:spPr>
          <a:xfrm>
            <a:off x="7670800" y="1905000"/>
            <a:ext cx="37084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«Одна страница, localStorage»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— чтобы ИИ не строил сложную систему с сервером.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Поля перечислены полностью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— это ваши столбцы из Excel, только строже.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Статусы заданы списком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— иначе каждый раз будут варианты «активен/Активный/акт.».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«3 примера»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— сразу видно, что всё работает.</a:t>
            </a:r>
            <a:endParaRPr lang="en-US" sz="1250" noProof="1"/>
          </a:p>
        </p:txBody>
      </p:sp>
      <p:sp>
        <p:nvSpPr>
          <p:cNvPr id="9" name="check-panel"/>
          <p:cNvSpPr/>
          <p:nvPr/>
        </p:nvSpPr>
        <p:spPr>
          <a:xfrm>
            <a:off x="7670800" y="4876800"/>
            <a:ext cx="3708400" cy="8636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0" name="check-text"/>
          <p:cNvSpPr txBox="1"/>
          <p:nvPr/>
        </p:nvSpPr>
        <p:spPr>
          <a:xfrm>
            <a:off x="7848600" y="4978400"/>
            <a:ext cx="335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75C"/>
                </a:solidFill>
                <a:latin typeface="Inter"/>
                <a:ea typeface="Inter"/>
              </a:rPr>
              <a:t>Проверка:</a:t>
            </a:r>
            <a:r>
              <a:rPr lang="en-US" sz="1150" noProof="1">
                <a:solidFill>
                  <a:srgbClr val="6E675C"/>
                </a:solidFill>
                <a:latin typeface="Inter"/>
                <a:ea typeface="Inter"/>
              </a:rPr>
              <a:t> открыли страницу, добавили своего поставщика, закрыли и открыли браузер — данные на месте.</a:t>
            </a:r>
            <a:endParaRPr lang="en-US" sz="1150" noProof="1"/>
          </a:p>
        </p:txBody>
      </p:sp>
      <p:sp>
        <p:nvSpPr>
          <p:cNvPr id="11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070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2" name="footnote"/>
          <p:cNvSpPr txBox="1"/>
          <p:nvPr/>
        </p:nvSpPr>
        <p:spPr>
          <a:xfrm>
            <a:off x="812800" y="62230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CSV-файл открывается в Excel двойным щелчком — так база легко возвращается в привычный формат для отчётности.</a:t>
            </a:r>
            <a:endParaRPr lang="en-US" sz="1100" noProof="1"/>
          </a:p>
        </p:txBody>
      </p:sp>
      <p:sp>
        <p:nvSpPr>
          <p:cNvPr id="13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14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3. ПРОЕКТ «БАЗА ПОСТАВЩИКОВ»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Доработка базы: что просить дальше, по одному пункту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col1-label"/>
          <p:cNvSpPr txBox="1"/>
          <p:nvPr/>
        </p:nvSpPr>
        <p:spPr>
          <a:xfrm>
            <a:off x="8128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ТИПИЧНЫЕ ПОЛЕЗНЫЕ ДОРАБОТКИ</a:t>
            </a:r>
            <a:endParaRPr lang="en-US" sz="1200" noProof="1"/>
          </a:p>
        </p:txBody>
      </p:sp>
      <p:sp>
        <p:nvSpPr>
          <p:cNvPr id="6" name="col1-list"/>
          <p:cNvSpPr txBox="1"/>
          <p:nvPr/>
        </p:nvSpPr>
        <p:spPr>
          <a:xfrm>
            <a:off x="812800" y="2159000"/>
            <a:ext cx="5080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«Добавь сортировку по названию и по городу»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«Подсвечивай заблокированных поставщиков красным, а на паузе — серым»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«Добавь счётчик: всего поставщиков, в работе, на паузе, заблокировано»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«При удалении спрашивай подтверждение»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«Добавь кнопку “Импорт из CSV”, чтобы загрузить мой старый Excel»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— «Сделай поле “дата последней закупки” и покажи тех, у кого она старше 6 месяцев»</a:t>
            </a:r>
            <a:endParaRPr lang="en-US" sz="1300" noProof="1"/>
          </a:p>
        </p:txBody>
      </p:sp>
      <p:sp>
        <p:nvSpPr>
          <p:cNvPr id="7" name="col2-label"/>
          <p:cNvSpPr txBox="1"/>
          <p:nvPr/>
        </p:nvSpPr>
        <p:spPr>
          <a:xfrm>
            <a:off x="6604000" y="18034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КАК ПОНЯТЬ, ЧТО ХВАТИТ ДОРАБАТЫВАТЬ</a:t>
            </a:r>
            <a:endParaRPr lang="en-US" sz="1200" noProof="1"/>
          </a:p>
        </p:txBody>
      </p:sp>
      <p:sp>
        <p:nvSpPr>
          <p:cNvPr id="8" name="col2-list"/>
          <p:cNvSpPr txBox="1"/>
          <p:nvPr/>
        </p:nvSpPr>
        <p:spPr>
          <a:xfrm>
            <a:off x="6604000" y="2159000"/>
            <a:ext cx="4775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Задайте себе вопрос: я этой кнопкой буду пользоваться каждую неделю?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Если нет — не просите её у ИИ. Маленький инструмент, которым реально пользуются, лучше большого, в котором половина функций мешает.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Хороший ориентир: 5–7 доработок после первой версии.</a:t>
            </a:r>
            <a:endParaRPr lang="en-US" sz="1300" noProof="1"/>
          </a:p>
        </p:txBody>
      </p:sp>
      <p:sp>
        <p:nvSpPr>
          <p:cNvPr id="9" name="backup-panel"/>
          <p:cNvSpPr/>
          <p:nvPr/>
        </p:nvSpPr>
        <p:spPr>
          <a:xfrm>
            <a:off x="6604000" y="4318000"/>
            <a:ext cx="4775200" cy="1270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0" name="backup-bar"/>
          <p:cNvSpPr/>
          <p:nvPr/>
        </p:nvSpPr>
        <p:spPr>
          <a:xfrm>
            <a:off x="6604000" y="4318000"/>
            <a:ext cx="50800" cy="12700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1" name="backup-title"/>
          <p:cNvSpPr txBox="1"/>
          <p:nvPr/>
        </p:nvSpPr>
        <p:spPr>
          <a:xfrm>
            <a:off x="6908800" y="4470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ПРИВЫЧКА, КОТОРАЯ СПАСЁТ ВАШИ ДАННЫЕ</a:t>
            </a:r>
            <a:endParaRPr lang="en-US" sz="1200" noProof="1"/>
          </a:p>
        </p:txBody>
      </p:sp>
      <p:sp>
        <p:nvSpPr>
          <p:cNvPr id="12" name="backup-text"/>
          <p:cNvSpPr txBox="1"/>
          <p:nvPr/>
        </p:nvSpPr>
        <p:spPr>
          <a:xfrm>
            <a:off x="6908800" y="47752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Перед большой переделкой скопируйте папку проекта и назовите копию «база_резерв_01-08». Если ИИ сломает что-то важное — просто вернётесь к копии.</a:t>
            </a:r>
            <a:endParaRPr lang="en-US" sz="1200" noProof="1"/>
          </a:p>
        </p:txBody>
      </p:sp>
      <p:sp>
        <p:nvSpPr>
          <p:cNvPr id="13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5943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4" name="check-text"/>
          <p:cNvSpPr txBox="1"/>
          <p:nvPr/>
        </p:nvSpPr>
        <p:spPr>
          <a:xfrm>
            <a:off x="812800" y="60960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Inter"/>
                <a:ea typeface="Inter"/>
              </a:rPr>
              <a:t>Критерий завершения проекта:</a:t>
            </a: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 вы добавили реального поставщика, нашли его поиском, отфильтровали по статусу и выгрузили список в Excel.</a:t>
            </a:r>
            <a:endParaRPr lang="en-US" sz="1200" noProof="1"/>
          </a:p>
        </p:txBody>
      </p:sp>
      <p:sp>
        <p:nvSpPr>
          <p:cNvPr id="15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15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4. КОГДА ЧТО-ТО ПОШЛО НЕ ТАК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Ошибки — это нормально: ИИ их и чинит</a:t>
            </a:r>
            <a:endParaRPr lang="en-US" sz="2700" noProof="1"/>
          </a:p>
        </p:txBody>
      </p:sp>
      <p:sp>
        <p:nvSpPr>
          <p:cNvPr id="4" name="cycle-label"/>
          <p:cNvSpPr txBox="1"/>
          <p:nvPr/>
        </p:nvSpPr>
        <p:spPr>
          <a:xfrm>
            <a:off x="812800" y="152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УНИВЕРСАЛЬНЫЙ ЦИКЛ РЕМОНТА</a:t>
            </a:r>
            <a:endParaRPr lang="en-US" sz="1200" noProof="1"/>
          </a:p>
        </p:txBody>
      </p:sp>
      <p:sp>
        <p:nvSpPr>
          <p:cNvPr id="5" name="c1"/>
          <p:cNvSpPr/>
          <p:nvPr/>
        </p:nvSpPr>
        <p:spPr>
          <a:xfrm>
            <a:off x="812800" y="1905000"/>
            <a:ext cx="1905000" cy="7112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6" name="c1t"/>
          <p:cNvSpPr txBox="1"/>
          <p:nvPr/>
        </p:nvSpPr>
        <p:spPr>
          <a:xfrm>
            <a:off x="889000" y="19812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Что-то не работает или выглядит сломанным</a:t>
            </a:r>
            <a:endParaRPr lang="en-US" sz="11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eyJ2aWV3Qm94IjpbMjIsMTBdLCJwb2ludHMiOiIwLDUgMjIsNSIsImN1cnZlIjoic2hhcnAifQ</pptd:line>
              </p:ext>
            </p:extLst>
          </p:nvPr>
        </p:nvSpPr>
        <p:spPr>
          <a:xfrm>
            <a:off x="2768600" y="21971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8" name="c2"/>
          <p:cNvSpPr/>
          <p:nvPr/>
        </p:nvSpPr>
        <p:spPr>
          <a:xfrm>
            <a:off x="3098800" y="1905000"/>
            <a:ext cx="1905000" cy="7112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9" name="c2t"/>
          <p:cNvSpPr txBox="1"/>
          <p:nvPr/>
        </p:nvSpPr>
        <p:spPr>
          <a:xfrm>
            <a:off x="3175000" y="19812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Копируете текст ошибки или описываете, что именно не так</a:t>
            </a:r>
            <a:endParaRPr lang="en-US" sz="1100" noProof="1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eyJ2aWV3Qm94IjpbMjIsMTBdLCJwb2ludHMiOiIwLDUgMjIsNSIsImN1cnZlIjoic2hhcnAifQ</pptd:line>
              </p:ext>
            </p:extLst>
          </p:nvPr>
        </p:nvSpPr>
        <p:spPr>
          <a:xfrm>
            <a:off x="5054600" y="21971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1" name="c3"/>
          <p:cNvSpPr/>
          <p:nvPr/>
        </p:nvSpPr>
        <p:spPr>
          <a:xfrm>
            <a:off x="5384800" y="1905000"/>
            <a:ext cx="1905000" cy="7112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2" name="c3t"/>
          <p:cNvSpPr txBox="1"/>
          <p:nvPr/>
        </p:nvSpPr>
        <p:spPr>
          <a:xfrm>
            <a:off x="5461000" y="19812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C1A17"/>
                </a:solidFill>
                <a:latin typeface="Inter"/>
                <a:ea typeface="Inter"/>
              </a:rPr>
              <a:t>Пишете в чат: «Исправь: …»</a:t>
            </a:r>
            <a:endParaRPr lang="en-US" sz="1100" noProof="1"/>
          </a:p>
        </p:txBody>
      </p:sp>
      <p:sp>
        <p:nvSpPr>
          <p:cNvPr id="13" name="a3"/>
          <p:cNvSpPr/>
          <p:nvPr>
            <p:extLst>
              <p:ext uri="{F5677B7D-0D2A-4D9B-9A5C-6D8D7D0E5A5D}">
                <pptd:line encoding="base64url">eyJ2aWV3Qm94IjpbMjIsMTBdLCJwb2ludHMiOiIwLDUgMjIsNSIsImN1cnZlIjoic2hhcnAifQ</pptd:line>
              </p:ext>
            </p:extLst>
          </p:nvPr>
        </p:nvSpPr>
        <p:spPr>
          <a:xfrm>
            <a:off x="7340600" y="21971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25400">
            <a:solidFill>
              <a:srgbClr val="C2410C"/>
            </a:solidFill>
            <a:tailEnd type="stealth"/>
          </a:ln>
        </p:spPr>
      </p:sp>
      <p:sp>
        <p:nvSpPr>
          <p:cNvPr id="14" name="c4"/>
          <p:cNvSpPr/>
          <p:nvPr/>
        </p:nvSpPr>
        <p:spPr>
          <a:xfrm>
            <a:off x="7670800" y="1905000"/>
            <a:ext cx="1905000" cy="7112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15" name="c4t"/>
          <p:cNvSpPr txBox="1"/>
          <p:nvPr/>
        </p:nvSpPr>
        <p:spPr>
          <a:xfrm>
            <a:off x="7747000" y="19812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C2410C"/>
                </a:solidFill>
                <a:latin typeface="Inter"/>
                <a:ea typeface="Inter"/>
              </a:rPr>
              <a:t>Проверяете в браузере. Не помогло — повторяете</a:t>
            </a:r>
            <a:endParaRPr lang="en-US" sz="1100" noProof="1"/>
          </a:p>
        </p:txBody>
      </p:sp>
      <p:sp>
        <p:nvSpPr>
          <p:cNvPr id="16" name="problems-label"/>
          <p:cNvSpPr txBox="1"/>
          <p:nvPr/>
        </p:nvSpPr>
        <p:spPr>
          <a:xfrm>
            <a:off x="812800" y="2997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ТРИ САМЫЕ ЧАСТЫЕ СИТУАЦИИ</a:t>
            </a:r>
            <a:endParaRPr lang="en-US" sz="1200" noProof="1"/>
          </a:p>
        </p:txBody>
      </p:sp>
      <p:sp>
        <p:nvSpPr>
          <p:cNvPr id="17" name="prob1"/>
          <p:cNvSpPr txBox="1"/>
          <p:nvPr/>
        </p:nvSpPr>
        <p:spPr>
          <a:xfrm>
            <a:off x="812800" y="33528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Белый экран вместо сайта.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Откройте панель ошибок (Ctrl+`), скопируйте красный текст и отправьте: «При открытии страницы белый экран, вот ошибка: …»</a:t>
            </a:r>
            <a:endParaRPr lang="en-US" sz="1300" noProof="1"/>
          </a:p>
        </p:txBody>
      </p:sp>
      <p:sp>
        <p:nvSpPr>
          <p:cNvPr id="18" name="prob2"/>
          <p:cNvSpPr txBox="1"/>
          <p:nvPr/>
        </p:nvSpPr>
        <p:spPr>
          <a:xfrm>
            <a:off x="812800" y="42672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Кнопка не работает.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Напишите точно: «Нажимаю “Добавить поставщика” — ничего не происходит. Исправь». Чем точнее описание, тем быстрее починка.</a:t>
            </a:r>
            <a:endParaRPr lang="en-US" sz="1300" noProof="1"/>
          </a:p>
        </p:txBody>
      </p:sp>
      <p:sp>
        <p:nvSpPr>
          <p:cNvPr id="19" name="prob3"/>
          <p:cNvSpPr txBox="1"/>
          <p:nvPr/>
        </p:nvSpPr>
        <p:spPr>
          <a:xfrm>
            <a:off x="812800" y="50800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«Пропали данные».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Чаще всего вы просто открыли страницу в другом браузере — localStorage привязан к браузеру. Откройте в том же, где вносили данные.</a:t>
            </a:r>
            <a:endParaRPr lang="en-US" sz="1300" noProof="1"/>
          </a:p>
        </p:txBody>
      </p:sp>
      <p:sp>
        <p:nvSpPr>
          <p:cNvPr id="20" name="right-panel"/>
          <p:cNvSpPr/>
          <p:nvPr/>
        </p:nvSpPr>
        <p:spPr>
          <a:xfrm>
            <a:off x="7823200" y="2997200"/>
            <a:ext cx="3556000" cy="26670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21" name="right-bar"/>
          <p:cNvSpPr/>
          <p:nvPr/>
        </p:nvSpPr>
        <p:spPr>
          <a:xfrm>
            <a:off x="7823200" y="2997200"/>
            <a:ext cx="50800" cy="26670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22" name="right-title"/>
          <p:cNvSpPr txBox="1"/>
          <p:nvPr/>
        </p:nvSpPr>
        <p:spPr>
          <a:xfrm>
            <a:off x="8128000" y="3175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ЕСЛИ ТРИ РАЗА ПОДРЯД НЕ ПОЛУЧАЕТСЯ</a:t>
            </a:r>
            <a:endParaRPr lang="en-US" sz="1200" noProof="1"/>
          </a:p>
        </p:txBody>
      </p:sp>
      <p:sp>
        <p:nvSpPr>
          <p:cNvPr id="23" name="right-text"/>
          <p:cNvSpPr txBox="1"/>
          <p:nvPr/>
        </p:nvSpPr>
        <p:spPr>
          <a:xfrm>
            <a:off x="8128000" y="3759200"/>
            <a:ext cx="3048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Не крутите одну и ту же просьбу. Напишите: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«Объясни простыми словами, в чём проблема и какие есть варианты её решить».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Или вернитесь к резервной копии папки и попробуйте сформулировать задачу иначе.</a:t>
            </a:r>
            <a:endParaRPr lang="en-US" sz="1200" noProof="1"/>
          </a:p>
        </p:txBody>
      </p:sp>
      <p:sp>
        <p:nvSpPr>
          <p:cNvPr id="2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16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4. БЕЗОПАСНОСТЬ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Пять правил, чтобы эксперимент не стал проблемой</a:t>
            </a:r>
            <a:endParaRPr lang="en-US" sz="2700" noProof="1"/>
          </a:p>
        </p:txBody>
      </p:sp>
      <p:sp>
        <p:nvSpPr>
          <p:cNvPr id="4" name="line1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154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5" name="r1-num"/>
          <p:cNvSpPr txBox="1"/>
          <p:nvPr/>
        </p:nvSpPr>
        <p:spPr>
          <a:xfrm>
            <a:off x="812800" y="18034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2410C"/>
                </a:solidFill>
                <a:latin typeface="Inter"/>
                <a:ea typeface="Inter"/>
              </a:rPr>
              <a:t>1</a:t>
            </a:r>
            <a:endParaRPr lang="en-US" sz="2400" noProof="1"/>
          </a:p>
        </p:txBody>
      </p:sp>
      <p:sp>
        <p:nvSpPr>
          <p:cNvPr id="6" name="r1-text"/>
          <p:cNvSpPr txBox="1"/>
          <p:nvPr/>
        </p:nvSpPr>
        <p:spPr>
          <a:xfrm>
            <a:off x="1524000" y="1803400"/>
            <a:ext cx="985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Никаких паролей и ключей в чате.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Если ИИ просит вставить пароль или «ключ доступа» — стоп, этого не делаем. Для ваших проектов они не нужны.</a:t>
            </a:r>
            <a:endParaRPr lang="en-US" sz="1300" noProof="1"/>
          </a:p>
        </p:txBody>
      </p:sp>
      <p:sp>
        <p:nvSpPr>
          <p:cNvPr id="7" name="r2-num"/>
          <p:cNvSpPr txBox="1"/>
          <p:nvPr/>
        </p:nvSpPr>
        <p:spPr>
          <a:xfrm>
            <a:off x="812800" y="26162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2410C"/>
                </a:solidFill>
                <a:latin typeface="Inter"/>
                <a:ea typeface="Inter"/>
              </a:rPr>
              <a:t>2</a:t>
            </a:r>
            <a:endParaRPr lang="en-US" sz="2400" noProof="1"/>
          </a:p>
        </p:txBody>
      </p:sp>
      <p:sp>
        <p:nvSpPr>
          <p:cNvPr id="8" name="r2-text"/>
          <p:cNvSpPr txBox="1"/>
          <p:nvPr/>
        </p:nvSpPr>
        <p:spPr>
          <a:xfrm>
            <a:off x="1524000" y="2616200"/>
            <a:ext cx="985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Осторожно с реальными данными.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Цены из контрактов, персональные данные, условия договоров — это коммерческая информация. Уточните в компании, какие данные можно отправлять в облачные ИИ-сервисы. На старте тренируйтесь на вымышленных поставщиках.</a:t>
            </a:r>
            <a:endParaRPr lang="en-US" sz="1300" noProof="1"/>
          </a:p>
        </p:txBody>
      </p:sp>
      <p:sp>
        <p:nvSpPr>
          <p:cNvPr id="9" name="r3-num"/>
          <p:cNvSpPr txBox="1"/>
          <p:nvPr/>
        </p:nvSpPr>
        <p:spPr>
          <a:xfrm>
            <a:off x="812800" y="34290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2410C"/>
                </a:solidFill>
                <a:latin typeface="Inter"/>
                <a:ea typeface="Inter"/>
              </a:rPr>
              <a:t>3</a:t>
            </a:r>
            <a:endParaRPr lang="en-US" sz="2400" noProof="1"/>
          </a:p>
        </p:txBody>
      </p:sp>
      <p:sp>
        <p:nvSpPr>
          <p:cNvPr id="10" name="r3-text"/>
          <p:cNvSpPr txBox="1"/>
          <p:nvPr/>
        </p:nvSpPr>
        <p:spPr>
          <a:xfrm>
            <a:off x="1524000" y="3429000"/>
            <a:ext cx="985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Проверяйте результат глазами.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ИИ пишет код уверенно, но уверенность — не гарантия. Каждую функцию щёлкните руками, прежде чем показывать коллегам.</a:t>
            </a:r>
            <a:endParaRPr lang="en-US" sz="1300" noProof="1"/>
          </a:p>
        </p:txBody>
      </p:sp>
      <p:sp>
        <p:nvSpPr>
          <p:cNvPr id="11" name="r4-num"/>
          <p:cNvSpPr txBox="1"/>
          <p:nvPr/>
        </p:nvSpPr>
        <p:spPr>
          <a:xfrm>
            <a:off x="812800" y="42418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2410C"/>
                </a:solidFill>
                <a:latin typeface="Inter"/>
                <a:ea typeface="Inter"/>
              </a:rPr>
              <a:t>4</a:t>
            </a:r>
            <a:endParaRPr lang="en-US" sz="2400" noProof="1"/>
          </a:p>
        </p:txBody>
      </p:sp>
      <p:sp>
        <p:nvSpPr>
          <p:cNvPr id="12" name="r4-text"/>
          <p:cNvSpPr txBox="1"/>
          <p:nvPr/>
        </p:nvSpPr>
        <p:spPr>
          <a:xfrm>
            <a:off x="1524000" y="4241800"/>
            <a:ext cx="985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Делайте резервные копии.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Перед большими правками — копия папки. Раз в неделю — выгрузка базы в Excel. Дёшево, а спасает.</a:t>
            </a:r>
            <a:endParaRPr lang="en-US" sz="1300" noProof="1"/>
          </a:p>
        </p:txBody>
      </p:sp>
      <p:sp>
        <p:nvSpPr>
          <p:cNvPr id="13" name="r5-num"/>
          <p:cNvSpPr txBox="1"/>
          <p:nvPr/>
        </p:nvSpPr>
        <p:spPr>
          <a:xfrm>
            <a:off x="812800" y="50546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2410C"/>
                </a:solidFill>
                <a:latin typeface="Inter"/>
                <a:ea typeface="Inter"/>
              </a:rPr>
              <a:t>5</a:t>
            </a:r>
            <a:endParaRPr lang="en-US" sz="2400" noProof="1"/>
          </a:p>
        </p:txBody>
      </p:sp>
      <p:sp>
        <p:nvSpPr>
          <p:cNvPr id="14" name="r5-text"/>
          <p:cNvSpPr txBox="1"/>
          <p:nvPr/>
        </p:nvSpPr>
        <p:spPr>
          <a:xfrm>
            <a:off x="1524000" y="5054600"/>
            <a:ext cx="985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Знайте границу.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Внутренние инструменты и прототипы — можно самим. Системы с клиентскими данными, оплатами, интеграцией с 1С или требованиями по защите информации — только через ИТ. Ваш прототип станет для них готовым техзаданием.</a:t>
            </a:r>
            <a:endParaRPr lang="en-US" sz="1300" noProof="1"/>
          </a:p>
        </p:txBody>
      </p:sp>
      <p:sp>
        <p:nvSpPr>
          <p:cNvPr id="15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5943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6" name="footnote"/>
          <p:cNvSpPr txBox="1"/>
          <p:nvPr/>
        </p:nvSpPr>
        <p:spPr>
          <a:xfrm>
            <a:off x="812800" y="60960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C"/>
                </a:solidFill>
                <a:latin typeface="Inter"/>
                <a:ea typeface="Inter"/>
              </a:rPr>
              <a:t>Общий принцип: ИИ — это стажёр с феноменальной скоростью и без чувства ответственности. Скорость используем, ответственность оставляем себе.</a:t>
            </a:r>
            <a:endParaRPr lang="en-US" sz="1200" noProof="1"/>
          </a:p>
        </p:txBody>
      </p:sp>
      <p:sp>
        <p:nvSpPr>
          <p:cNvPr id="17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17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ЧАСТЬ 4. ШПАРГАЛКА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Шпаргалка: распечатайте и положите рядом с клавиатурой</a:t>
            </a:r>
            <a:endParaRPr lang="en-US" sz="2700" noProof="1"/>
          </a:p>
        </p:txBody>
      </p:sp>
      <p:sp>
        <p:nvSpPr>
          <p:cNvPr id="4" name="formula-panel"/>
          <p:cNvSpPr/>
          <p:nvPr/>
        </p:nvSpPr>
        <p:spPr>
          <a:xfrm>
            <a:off x="812800" y="1549400"/>
            <a:ext cx="10566400" cy="10668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5" name="formula-bar"/>
          <p:cNvSpPr/>
          <p:nvPr/>
        </p:nvSpPr>
        <p:spPr>
          <a:xfrm>
            <a:off x="812800" y="1549400"/>
            <a:ext cx="50800" cy="1066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6" name="formula-title"/>
          <p:cNvSpPr txBox="1"/>
          <p:nvPr/>
        </p:nvSpPr>
        <p:spPr>
          <a:xfrm>
            <a:off x="1117600" y="17018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ФОРМУЛА ЛЮБОГО ЗАПРОСА</a:t>
            </a:r>
            <a:endParaRPr lang="en-US" sz="1200" noProof="1"/>
          </a:p>
        </p:txBody>
      </p:sp>
      <p:sp>
        <p:nvSpPr>
          <p:cNvPr id="7" name="formula-text"/>
          <p:cNvSpPr txBox="1"/>
          <p:nvPr/>
        </p:nvSpPr>
        <p:spPr>
          <a:xfrm>
            <a:off x="1117600" y="20066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C1A17"/>
                </a:solidFill>
                <a:latin typeface="Inter"/>
                <a:ea typeface="Inter"/>
              </a:rPr>
              <a:t>ЧТО делаем + ДЛЯ КОГО + ЧТО ВНУТРИ (списком) + КАК ВЫГЛЯДИТ</a:t>
            </a:r>
            <a:endParaRPr lang="en-US" sz="1600" noProof="1"/>
          </a:p>
        </p:txBody>
      </p:sp>
      <p:sp>
        <p:nvSpPr>
          <p:cNvPr id="8" name="check-label"/>
          <p:cNvSpPr txBox="1"/>
          <p:nvPr/>
        </p:nvSpPr>
        <p:spPr>
          <a:xfrm>
            <a:off x="812800" y="2895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ЧЕК-ЛИСТ РАБОЧЕГО ДНЯ С CURSOR</a:t>
            </a:r>
            <a:endParaRPr lang="en-US" sz="1200" noProof="1"/>
          </a:p>
        </p:txBody>
      </p:sp>
      <p:sp>
        <p:nvSpPr>
          <p:cNvPr id="9" name="check-list"/>
          <p:cNvSpPr txBox="1"/>
          <p:nvPr/>
        </p:nvSpPr>
        <p:spPr>
          <a:xfrm>
            <a:off x="812800" y="3251200"/>
            <a:ext cx="6096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Создал отдельную папку под задачу и открыл её в Cursor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Написал первый запрос по формуле выше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Проверил результат в браузере своими глазами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Правки пишу по одной, а не списком из пяти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Ошибку скопировал текстом и попросил «Исправь: …»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Перед большой переделкой сделал копию папки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☐ Пароли и реальные контрактные данные в чат не вставлял</a:t>
            </a:r>
            <a:endParaRPr lang="en-US" sz="1300" noProof="1"/>
          </a:p>
        </p:txBody>
      </p:sp>
      <p:sp>
        <p:nvSpPr>
          <p:cNvPr id="10" name="hotkey-label"/>
          <p:cNvSpPr txBox="1"/>
          <p:nvPr/>
        </p:nvSpPr>
        <p:spPr>
          <a:xfrm>
            <a:off x="7620000" y="2895600"/>
            <a:ext cx="3759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ТРИ КЛАВИШИ</a:t>
            </a:r>
            <a:endParaRPr lang="en-US" sz="1200" noProof="1"/>
          </a:p>
        </p:txBody>
      </p:sp>
      <p:sp>
        <p:nvSpPr>
          <p:cNvPr id="11" name="hotkey-list"/>
          <p:cNvSpPr txBox="1"/>
          <p:nvPr/>
        </p:nvSpPr>
        <p:spPr>
          <a:xfrm>
            <a:off x="7620000" y="3251200"/>
            <a:ext cx="3759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Ctrl+L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чат с ИИ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Ctrl+I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агент: создаёт и правит файлы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A17"/>
                </a:solidFill>
                <a:latin typeface="Inter"/>
                <a:ea typeface="Inter"/>
              </a:rPr>
              <a:t>F5</a:t>
            </a:r>
            <a:r>
              <a:rPr lang="en-US" sz="1300" noProof="1">
                <a:solidFill>
                  <a:srgbClr val="1C1A17"/>
                </a:solidFill>
                <a:latin typeface="Inter"/>
                <a:ea typeface="Inter"/>
              </a:rPr>
              <a:t> — обновить страницу в браузере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6E675C"/>
                </a:solidFill>
                <a:latin typeface="Inter"/>
                <a:ea typeface="Inter"/>
              </a:rPr>
              <a:t>На Mac вместо Ctrl — Cmd.</a:t>
            </a:r>
            <a:endParaRPr lang="en-US" sz="1300" noProof="1"/>
          </a:p>
        </p:txBody>
      </p:sp>
      <p:sp>
        <p:nvSpPr>
          <p:cNvPr id="12" name="phrase-panel"/>
          <p:cNvSpPr/>
          <p:nvPr/>
        </p:nvSpPr>
        <p:spPr>
          <a:xfrm>
            <a:off x="7620000" y="4826000"/>
            <a:ext cx="3759200" cy="1219200"/>
          </a:xfrm>
          <a:prstGeom prst="rect">
            <a:avLst/>
          </a:prstGeom>
          <a:solidFill>
            <a:srgbClr val="F3EDE3"/>
          </a:solidFill>
          <a:ln>
            <a:noFill/>
          </a:ln>
        </p:spPr>
      </p:sp>
      <p:sp>
        <p:nvSpPr>
          <p:cNvPr id="13" name="phrase-text"/>
          <p:cNvSpPr txBox="1"/>
          <p:nvPr/>
        </p:nvSpPr>
        <p:spPr>
          <a:xfrm>
            <a:off x="7797800" y="4953000"/>
            <a:ext cx="3403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75C"/>
                </a:solidFill>
                <a:latin typeface="Inter"/>
                <a:ea typeface="Inter"/>
              </a:rPr>
              <a:t>Волшебные фразы: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lang="en-US" sz="1150" noProof="1">
                <a:solidFill>
                  <a:srgbClr val="6E675C"/>
                </a:solidFill>
                <a:latin typeface="Inter"/>
                <a:ea typeface="Inter"/>
              </a:rPr>
              <a:t>«Объясни простыми словами, что ты сделал»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Inter"/>
                <a:ea typeface="Inter"/>
              </a:rPr>
              <a:t>«Отмени последнее изменение»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Inter"/>
                <a:ea typeface="Inter"/>
              </a:rPr>
              <a:t>«В чём проблема и какие есть варианты?»</a:t>
            </a:r>
            <a:endParaRPr lang="en-US" sz="1150" noProof="1"/>
          </a:p>
        </p:txBody>
      </p:sp>
      <p:sp>
        <p:nvSpPr>
          <p:cNvPr id="14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18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2410C"/>
                </a:solidFill>
                <a:latin typeface="Inter"/>
                <a:ea typeface="Inter"/>
              </a:rPr>
              <a:t>ФИНАЛ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700" noProof="1" b="1">
                <a:solidFill>
                  <a:srgbClr val="1C1A17"/>
                </a:solidFill>
                <a:latin typeface="Inter"/>
                <a:ea typeface="Inter"/>
              </a:rPr>
              <a:t>Словарь на вырост и что делать завтра утром</a:t>
            </a:r>
            <a:endParaRPr lang="en-US" sz="2700" noProof="1"/>
          </a:p>
        </p:txBody>
      </p:sp>
      <p:sp>
        <p:nvSpPr>
          <p:cNvPr id="4" name="gloss-label"/>
          <p:cNvSpPr txBox="1"/>
          <p:nvPr/>
        </p:nvSpPr>
        <p:spPr>
          <a:xfrm>
            <a:off x="812800" y="1549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1C1A17"/>
                </a:solidFill>
                <a:latin typeface="Inter"/>
                <a:ea typeface="Inter"/>
              </a:rPr>
              <a:t>СЕМЬ СЛОВ, КОТОРЫЕ ВЫ УСЛЫШИТЕ</a:t>
            </a:r>
            <a:endParaRPr lang="en-US" sz="1200" noProof="1"/>
          </a:p>
        </p:txBody>
      </p:sp>
      <p:graphicFrame>
        <p:nvGraphicFramePr>
          <p:cNvPr id="5" name="gloss-table"/>
          <p:cNvGraphicFramePr>
            <a:graphicFrameLocks noGrp="1"/>
          </p:cNvGraphicFramePr>
          <p:nvPr/>
        </p:nvGraphicFramePr>
        <p:xfrm>
          <a:off x="812800" y="1905000"/>
          <a:ext cx="6604000" cy="3810000"/>
        </p:xfrm>
        <a:graphic>
          <a:graphicData uri="http://schemas.openxmlformats.org/drawingml/2006/table">
            <a:tbl>
              <a:tblPr/>
              <a:tblGrid>
                <a:gridCol w="1849120"/>
                <a:gridCol w="4754880"/>
              </a:tblGrid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Промпт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Текстовый запрос к ИИ — ваше техзадание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Агент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Режим, в котором ИИ сам создаёт и правит файлы (Ctrl+I)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index.html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Главный файл страницы; открывается двойным щелчком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localStorage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Хранилище данных внутри вашего браузера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CSV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Файл-таблица, который открывает Excel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Хостинг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Место в интернете, где живёт сайт со своим адресом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  <a:tr h="5410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C2410C"/>
                          </a:solidFill>
                          <a:latin typeface="Inter"/>
                          <a:ea typeface="Inter"/>
                        </a:rPr>
                        <a:t>Итерация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>
                          <a:solidFill>
                            <a:srgbClr val="1C1A17"/>
                          </a:solidFill>
                          <a:latin typeface="Inter"/>
                          <a:ea typeface="Inter"/>
                        </a:rPr>
                        <a:t>Один цикл «посмотрел → попросил правку → проверил»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5C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ext-label"/>
          <p:cNvSpPr txBox="1"/>
          <p:nvPr/>
        </p:nvSpPr>
        <p:spPr>
          <a:xfrm>
            <a:off x="7874000" y="15494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00" kern="0">
                <a:solidFill>
                  <a:srgbClr val="C2410C"/>
                </a:solidFill>
                <a:latin typeface="Inter"/>
                <a:ea typeface="Inter"/>
              </a:rPr>
              <a:t>ЗАВТРА УТРОМ</a:t>
            </a:r>
            <a:endParaRPr lang="en-US" sz="1200" noProof="1"/>
          </a:p>
        </p:txBody>
      </p:sp>
      <p:sp>
        <p:nvSpPr>
          <p:cNvPr id="7" name="next-list"/>
          <p:cNvSpPr txBox="1"/>
          <p:nvPr/>
        </p:nvSpPr>
        <p:spPr>
          <a:xfrm>
            <a:off x="7874000" y="1905000"/>
            <a:ext cx="3505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1. Скачайте Cursor с </a:t>
            </a:r>
            <a:r>
              <a:rPr lang="en-US" sz="1250" noProof="1" u="sng">
                <a:solidFill>
                  <a:srgbClr val="0563C1"/>
                </a:solidFill>
                <a:latin typeface="Inter"/>
                <a:ea typeface="Inter"/>
                <a:hlinkClick r:id="rId2"/>
              </a:rPr>
              <a:t>cursor.com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и зарегистрируйтесь.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2. Сделайте базу поставщиков по запросу со слайда 14 — на вымышленных данных.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3. Пройдите официальный курс: </a:t>
            </a:r>
            <a:r>
              <a:rPr lang="en-US" sz="1250" noProof="1" u="sng">
                <a:solidFill>
                  <a:srgbClr val="0563C1"/>
                </a:solidFill>
                <a:latin typeface="Inter"/>
                <a:ea typeface="Inter"/>
                <a:hlinkClick r:id="rId3"/>
              </a:rPr>
              <a:t>cursor.com/ru/learn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— он бесплатный и на русском.</a:t>
            </a:r>
            <a:endParaRPr lang="en-US" sz="1250" noProof="1"/>
          </a:p>
        </p:txBody>
      </p:sp>
      <p:sp>
        <p:nvSpPr>
          <p:cNvPr id="8" name="final-panel"/>
          <p:cNvSpPr/>
          <p:nvPr/>
        </p:nvSpPr>
        <p:spPr>
          <a:xfrm>
            <a:off x="7874000" y="4470400"/>
            <a:ext cx="3505200" cy="1244600"/>
          </a:xfrm>
          <a:prstGeom prst="rect">
            <a:avLst/>
          </a:prstGeom>
          <a:solidFill>
            <a:srgbClr val="F5E7DC"/>
          </a:solidFill>
          <a:ln>
            <a:noFill/>
          </a:ln>
        </p:spPr>
      </p:sp>
      <p:sp>
        <p:nvSpPr>
          <p:cNvPr id="9" name="final-text"/>
          <p:cNvSpPr txBox="1"/>
          <p:nvPr/>
        </p:nvSpPr>
        <p:spPr>
          <a:xfrm>
            <a:off x="8051800" y="4622800"/>
            <a:ext cx="3149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1C1A17"/>
                </a:solidFill>
                <a:latin typeface="Inter"/>
                <a:ea typeface="Inter"/>
              </a:rPr>
              <a:t>Первая программа, которую вы «напишете», займёт вечер.</a:t>
            </a:r>
            <a:r>
              <a:rPr lang="en-US" sz="1250" noProof="1">
                <a:solidFill>
                  <a:srgbClr val="1C1A17"/>
                </a:solidFill>
                <a:latin typeface="Inter"/>
                <a:ea typeface="Inter"/>
              </a:rPr>
              <a:t> Вторая — час. Дальше вы просто перестанете ждать ИТ-отдел по мелочам.</a:t>
            </a:r>
            <a:endParaRPr lang="en-US" sz="1250" noProof="1"/>
          </a:p>
        </p:txBody>
      </p:sp>
      <p:sp>
        <p:nvSpPr>
          <p:cNvPr id="10" name="line2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070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DDD5C8"/>
            </a:solidFill>
          </a:ln>
        </p:spPr>
      </p:sp>
      <p:sp>
        <p:nvSpPr>
          <p:cNvPr id="11" name="footnote"/>
          <p:cNvSpPr txBox="1"/>
          <p:nvPr/>
        </p:nvSpPr>
        <p:spPr>
          <a:xfrm>
            <a:off x="812800" y="62230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Материал подготовлен по официальному курсу </a:t>
            </a:r>
            <a:r>
              <a:rPr lang="en-US" sz="1100" noProof="1" u="sng">
                <a:solidFill>
                  <a:srgbClr val="0563C1"/>
                </a:solidFill>
                <a:latin typeface="Inter"/>
                <a:ea typeface="Inter"/>
                <a:hlinkClick r:id="rId3"/>
              </a:rPr>
              <a:t>cursor.com/ru/learn</a:t>
            </a: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. Все компании и данные в примерах вымышлены.</a:t>
            </a:r>
            <a:endParaRPr lang="en-US" sz="1100" noProof="1"/>
          </a:p>
        </p:txBody>
      </p:sp>
      <p:sp>
        <p:nvSpPr>
          <p:cNvPr id="12" name="pagenum"/>
          <p:cNvSpPr txBox="1"/>
          <p:nvPr/>
        </p:nvSpPr>
        <p:spPr>
          <a:xfrm>
            <a:off x="109220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6E675C"/>
                </a:solidFill>
                <a:latin typeface="Inter"/>
                <a:ea typeface="Inter"/>
              </a:rPr>
              <a:t>19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19</Slides>
</Properties>
</file>

<file path=docProps/core.xml><?xml version="1.0" encoding="utf-8"?>
<cp:coreProperties xmlns:cp="http://schemas.openxmlformats.org/package/2006/metadata/core-properties" xmlns:dc="http://purl.org/dc/elements/1.1/">
  <dc:title>Cursor для не-программистов: сайт и база поставщиков с ИИ</dc:title>
  <dc:subject>Cursor для не-программистов: сайт и база поставщиков с ИИ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{"Label":"Cursor для не-программистов: сайт и база поставщиков с ИИ","ContentProducer":"001191110108MACG2KBH8F10000","ProduceID":"19fbc360-c292-85b3-8000-0000ebdcbb3f","ReservedCode1":"","ContentPropagator":"001191110108MACG2KBH8F20000","PropagateID":"19fbc340-8b62-8fe1-8000-09c74cd32e8a","ReservedCode2":""}</vt:lpwstr>
  </property>
</Properties>
</file>